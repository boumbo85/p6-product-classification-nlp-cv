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7"/>
  </p:notesMasterIdLst>
  <p:sldIdLst>
    <p:sldId id="256" r:id="rId3"/>
    <p:sldId id="257" r:id="rId4"/>
    <p:sldId id="258" r:id="rId5"/>
    <p:sldId id="259" r:id="rId6"/>
    <p:sldId id="522" r:id="rId7"/>
    <p:sldId id="261" r:id="rId8"/>
    <p:sldId id="262" r:id="rId9"/>
    <p:sldId id="469" r:id="rId10"/>
    <p:sldId id="524" r:id="rId11"/>
    <p:sldId id="470" r:id="rId12"/>
    <p:sldId id="525" r:id="rId13"/>
    <p:sldId id="526" r:id="rId14"/>
    <p:sldId id="264" r:id="rId15"/>
    <p:sldId id="527" r:id="rId16"/>
    <p:sldId id="341" r:id="rId17"/>
    <p:sldId id="434" r:id="rId18"/>
    <p:sldId id="496" r:id="rId19"/>
    <p:sldId id="528" r:id="rId20"/>
    <p:sldId id="529" r:id="rId21"/>
    <p:sldId id="530" r:id="rId22"/>
    <p:sldId id="531" r:id="rId23"/>
    <p:sldId id="534" r:id="rId24"/>
    <p:sldId id="535" r:id="rId25"/>
    <p:sldId id="354" r:id="rId26"/>
    <p:sldId id="510" r:id="rId27"/>
    <p:sldId id="536" r:id="rId28"/>
    <p:sldId id="512" r:id="rId29"/>
    <p:sldId id="537" r:id="rId30"/>
    <p:sldId id="539" r:id="rId31"/>
    <p:sldId id="538" r:id="rId32"/>
    <p:sldId id="519" r:id="rId33"/>
    <p:sldId id="271" r:id="rId34"/>
    <p:sldId id="390" r:id="rId35"/>
    <p:sldId id="272" r:id="rId3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99"/>
    <a:srgbClr val="FFFF00"/>
    <a:srgbClr val="FF00FF"/>
    <a:srgbClr val="009999"/>
    <a:srgbClr val="66FF66"/>
    <a:srgbClr val="9966FF"/>
    <a:srgbClr val="996633"/>
    <a:srgbClr val="FF9900"/>
    <a:srgbClr val="FF99FF"/>
    <a:srgbClr val="385D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91" autoAdjust="0"/>
    <p:restoredTop sz="94743" autoAdjust="0"/>
  </p:normalViewPr>
  <p:slideViewPr>
    <p:cSldViewPr>
      <p:cViewPr varScale="1">
        <p:scale>
          <a:sx n="82" d="100"/>
          <a:sy n="82" d="100"/>
        </p:scale>
        <p:origin x="161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FE8E78-18F5-4ED1-B667-909F121B4AF7}" type="datetimeFigureOut">
              <a:rPr lang="en-GB" smtClean="0"/>
              <a:t>03/03/2023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B4BCB8-E00E-40ED-AE0D-5A885D87656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2552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«Data»</a:t>
            </a:r>
            <a:r>
              <a:rPr lang="fr-CH" sz="1200" dirty="0">
                <a:solidFill>
                  <a:schemeClr val="bg1">
                    <a:lumMod val="95000"/>
                  </a:schemeClr>
                </a:solidFill>
              </a:rPr>
              <a:t> = résultats des analyses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sz="1200" b="1" dirty="0">
              <a:solidFill>
                <a:schemeClr val="bg1">
                  <a:lumMod val="95000"/>
                </a:schemeClr>
              </a:solidFill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«</a:t>
            </a:r>
            <a:r>
              <a:rPr lang="fr-CH" sz="1200" b="1" dirty="0" err="1">
                <a:solidFill>
                  <a:schemeClr val="bg1">
                    <a:lumMod val="95000"/>
                  </a:schemeClr>
                </a:solidFill>
              </a:rPr>
              <a:t>Series</a:t>
            </a: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»</a:t>
            </a:r>
            <a:r>
              <a:rPr lang="fr-CH" sz="1200" dirty="0">
                <a:solidFill>
                  <a:schemeClr val="bg1">
                    <a:lumMod val="95000"/>
                  </a:schemeClr>
                </a:solidFill>
              </a:rPr>
              <a:t> = description des indicateurs/source 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31BA0-2620-49E3-AA05-F43AF018924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744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«Data»</a:t>
            </a:r>
            <a:r>
              <a:rPr lang="fr-CH" sz="1200" dirty="0">
                <a:solidFill>
                  <a:schemeClr val="bg1">
                    <a:lumMod val="95000"/>
                  </a:schemeClr>
                </a:solidFill>
              </a:rPr>
              <a:t> = résultats des analyses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sz="1200" b="1" dirty="0">
              <a:solidFill>
                <a:schemeClr val="bg1">
                  <a:lumMod val="95000"/>
                </a:schemeClr>
              </a:solidFill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«</a:t>
            </a:r>
            <a:r>
              <a:rPr lang="fr-CH" sz="1200" b="1" dirty="0" err="1">
                <a:solidFill>
                  <a:schemeClr val="bg1">
                    <a:lumMod val="95000"/>
                  </a:schemeClr>
                </a:solidFill>
              </a:rPr>
              <a:t>Series</a:t>
            </a: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»</a:t>
            </a:r>
            <a:r>
              <a:rPr lang="fr-CH" sz="1200" dirty="0">
                <a:solidFill>
                  <a:schemeClr val="bg1">
                    <a:lumMod val="95000"/>
                  </a:schemeClr>
                </a:solidFill>
              </a:rPr>
              <a:t> = description des indicateurs/source 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31BA0-2620-49E3-AA05-F43AF018924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908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«Data»</a:t>
            </a:r>
            <a:r>
              <a:rPr lang="fr-CH" sz="1200" dirty="0">
                <a:solidFill>
                  <a:schemeClr val="bg1">
                    <a:lumMod val="95000"/>
                  </a:schemeClr>
                </a:solidFill>
              </a:rPr>
              <a:t> = résultats des analyses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sz="1200" b="1" dirty="0">
              <a:solidFill>
                <a:schemeClr val="bg1">
                  <a:lumMod val="95000"/>
                </a:schemeClr>
              </a:solidFill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«</a:t>
            </a:r>
            <a:r>
              <a:rPr lang="fr-CH" sz="1200" b="1" dirty="0" err="1">
                <a:solidFill>
                  <a:schemeClr val="bg1">
                    <a:lumMod val="95000"/>
                  </a:schemeClr>
                </a:solidFill>
              </a:rPr>
              <a:t>Series</a:t>
            </a: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»</a:t>
            </a:r>
            <a:r>
              <a:rPr lang="fr-CH" sz="1200" dirty="0">
                <a:solidFill>
                  <a:schemeClr val="bg1">
                    <a:lumMod val="95000"/>
                  </a:schemeClr>
                </a:solidFill>
              </a:rPr>
              <a:t> = description des indicateurs/source 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31BA0-2620-49E3-AA05-F43AF018924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506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«Data»</a:t>
            </a:r>
            <a:r>
              <a:rPr lang="fr-CH" sz="1200" dirty="0">
                <a:solidFill>
                  <a:schemeClr val="bg1">
                    <a:lumMod val="95000"/>
                  </a:schemeClr>
                </a:solidFill>
              </a:rPr>
              <a:t> = résultats des analyses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sz="1200" b="1" dirty="0">
              <a:solidFill>
                <a:schemeClr val="bg1">
                  <a:lumMod val="95000"/>
                </a:schemeClr>
              </a:solidFill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«</a:t>
            </a:r>
            <a:r>
              <a:rPr lang="fr-CH" sz="1200" b="1" dirty="0" err="1">
                <a:solidFill>
                  <a:schemeClr val="bg1">
                    <a:lumMod val="95000"/>
                  </a:schemeClr>
                </a:solidFill>
              </a:rPr>
              <a:t>Series</a:t>
            </a: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»</a:t>
            </a:r>
            <a:r>
              <a:rPr lang="fr-CH" sz="1200" dirty="0">
                <a:solidFill>
                  <a:schemeClr val="bg1">
                    <a:lumMod val="95000"/>
                  </a:schemeClr>
                </a:solidFill>
              </a:rPr>
              <a:t> = description des indicateurs/source 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31BA0-2620-49E3-AA05-F43AF018924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7356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«Data»</a:t>
            </a:r>
            <a:r>
              <a:rPr lang="fr-CH" sz="1200" dirty="0">
                <a:solidFill>
                  <a:schemeClr val="bg1">
                    <a:lumMod val="95000"/>
                  </a:schemeClr>
                </a:solidFill>
              </a:rPr>
              <a:t> = résultats des analyses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sz="1200" b="1" dirty="0">
              <a:solidFill>
                <a:schemeClr val="bg1">
                  <a:lumMod val="95000"/>
                </a:schemeClr>
              </a:solidFill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«</a:t>
            </a:r>
            <a:r>
              <a:rPr lang="fr-CH" sz="1200" b="1" dirty="0" err="1">
                <a:solidFill>
                  <a:schemeClr val="bg1">
                    <a:lumMod val="95000"/>
                  </a:schemeClr>
                </a:solidFill>
              </a:rPr>
              <a:t>Series</a:t>
            </a: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»</a:t>
            </a:r>
            <a:r>
              <a:rPr lang="fr-CH" sz="1200" dirty="0">
                <a:solidFill>
                  <a:schemeClr val="bg1">
                    <a:lumMod val="95000"/>
                  </a:schemeClr>
                </a:solidFill>
              </a:rPr>
              <a:t> = description des indicateurs/source 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31BA0-2620-49E3-AA05-F43AF0189242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7303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31BA0-2620-49E3-AA05-F43AF0189242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6626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31BA0-2620-49E3-AA05-F43AF0189242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662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31BA0-2620-49E3-AA05-F43AF0189242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7065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31BA0-2620-49E3-AA05-F43AF0189242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7765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31BA0-2620-49E3-AA05-F43AF0189242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27281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31BA0-2620-49E3-AA05-F43AF0189242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46661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31BA0-2620-49E3-AA05-F43AF0189242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42653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31BA0-2620-49E3-AA05-F43AF0189242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110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31BA0-2620-49E3-AA05-F43AF0189242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4011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31BA0-2620-49E3-AA05-F43AF0189242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278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«Data»</a:t>
            </a:r>
            <a:r>
              <a:rPr lang="fr-CH" sz="1200" dirty="0">
                <a:solidFill>
                  <a:schemeClr val="bg1">
                    <a:lumMod val="95000"/>
                  </a:schemeClr>
                </a:solidFill>
              </a:rPr>
              <a:t> = résultats des analyses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sz="1200" b="1" dirty="0">
              <a:solidFill>
                <a:schemeClr val="bg1">
                  <a:lumMod val="95000"/>
                </a:schemeClr>
              </a:solidFill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«</a:t>
            </a:r>
            <a:r>
              <a:rPr lang="fr-CH" sz="1200" b="1" dirty="0" err="1">
                <a:solidFill>
                  <a:schemeClr val="bg1">
                    <a:lumMod val="95000"/>
                  </a:schemeClr>
                </a:solidFill>
              </a:rPr>
              <a:t>Series</a:t>
            </a: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»</a:t>
            </a:r>
            <a:r>
              <a:rPr lang="fr-CH" sz="1200" dirty="0">
                <a:solidFill>
                  <a:schemeClr val="bg1">
                    <a:lumMod val="95000"/>
                  </a:schemeClr>
                </a:solidFill>
              </a:rPr>
              <a:t> = description des indicateurs/source 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31BA0-2620-49E3-AA05-F43AF0189242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1347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«Data»</a:t>
            </a:r>
            <a:r>
              <a:rPr lang="fr-CH" sz="1200" dirty="0">
                <a:solidFill>
                  <a:schemeClr val="bg1">
                    <a:lumMod val="95000"/>
                  </a:schemeClr>
                </a:solidFill>
              </a:rPr>
              <a:t> = résultats des analyses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sz="1200" b="1" dirty="0">
              <a:solidFill>
                <a:schemeClr val="bg1">
                  <a:lumMod val="95000"/>
                </a:schemeClr>
              </a:solidFill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«</a:t>
            </a:r>
            <a:r>
              <a:rPr lang="fr-CH" sz="1200" b="1" dirty="0" err="1">
                <a:solidFill>
                  <a:schemeClr val="bg1">
                    <a:lumMod val="95000"/>
                  </a:schemeClr>
                </a:solidFill>
              </a:rPr>
              <a:t>Series</a:t>
            </a: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»</a:t>
            </a:r>
            <a:r>
              <a:rPr lang="fr-CH" sz="1200" dirty="0">
                <a:solidFill>
                  <a:schemeClr val="bg1">
                    <a:lumMod val="95000"/>
                  </a:schemeClr>
                </a:solidFill>
              </a:rPr>
              <a:t> = description des indicateurs/source 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31BA0-2620-49E3-AA05-F43AF0189242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03675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«Data»</a:t>
            </a:r>
            <a:r>
              <a:rPr lang="fr-CH" sz="1200" dirty="0">
                <a:solidFill>
                  <a:schemeClr val="bg1">
                    <a:lumMod val="95000"/>
                  </a:schemeClr>
                </a:solidFill>
              </a:rPr>
              <a:t> = résultats des analyses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sz="1200" b="1" dirty="0">
              <a:solidFill>
                <a:schemeClr val="bg1">
                  <a:lumMod val="95000"/>
                </a:schemeClr>
              </a:solidFill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«</a:t>
            </a:r>
            <a:r>
              <a:rPr lang="fr-CH" sz="1200" b="1" dirty="0" err="1">
                <a:solidFill>
                  <a:schemeClr val="bg1">
                    <a:lumMod val="95000"/>
                  </a:schemeClr>
                </a:solidFill>
              </a:rPr>
              <a:t>Series</a:t>
            </a: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»</a:t>
            </a:r>
            <a:r>
              <a:rPr lang="fr-CH" sz="1200" dirty="0">
                <a:solidFill>
                  <a:schemeClr val="bg1">
                    <a:lumMod val="95000"/>
                  </a:schemeClr>
                </a:solidFill>
              </a:rPr>
              <a:t> = description des indicateurs/source 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31BA0-2620-49E3-AA05-F43AF0189242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3738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«Data»</a:t>
            </a:r>
            <a:r>
              <a:rPr lang="fr-CH" sz="1200" dirty="0">
                <a:solidFill>
                  <a:schemeClr val="bg1">
                    <a:lumMod val="95000"/>
                  </a:schemeClr>
                </a:solidFill>
              </a:rPr>
              <a:t> = résultats des analyses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sz="1200" b="1" dirty="0">
              <a:solidFill>
                <a:schemeClr val="bg1">
                  <a:lumMod val="95000"/>
                </a:schemeClr>
              </a:solidFill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«</a:t>
            </a:r>
            <a:r>
              <a:rPr lang="fr-CH" sz="1200" b="1" dirty="0" err="1">
                <a:solidFill>
                  <a:schemeClr val="bg1">
                    <a:lumMod val="95000"/>
                  </a:schemeClr>
                </a:solidFill>
              </a:rPr>
              <a:t>Series</a:t>
            </a:r>
            <a:r>
              <a:rPr lang="fr-CH" sz="1200" b="1" dirty="0">
                <a:solidFill>
                  <a:schemeClr val="bg1">
                    <a:lumMod val="95000"/>
                  </a:schemeClr>
                </a:solidFill>
              </a:rPr>
              <a:t>»</a:t>
            </a:r>
            <a:r>
              <a:rPr lang="fr-CH" sz="1200" dirty="0">
                <a:solidFill>
                  <a:schemeClr val="bg1">
                    <a:lumMod val="95000"/>
                  </a:schemeClr>
                </a:solidFill>
              </a:rPr>
              <a:t> = description des indicateurs/source 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31BA0-2620-49E3-AA05-F43AF0189242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56725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31BA0-2620-49E3-AA05-F43AF0189242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0967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31BA0-2620-49E3-AA05-F43AF0189242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662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03/03/2023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03/03/2023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03/03/2023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03/03/2023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03/03/2023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03/03/2023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03/03/2023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03/03/2023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03/03/2023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03/03/2023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03/03/2023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92E5-58B4-4438-B5F1-007B17D9DA95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03/03/2023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13833-91A4-4703-9E51-D463A934DA52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753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92E5-58B4-4438-B5F1-007B17D9DA95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03/03/2023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13833-91A4-4703-9E51-D463A934DA52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564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92E5-58B4-4438-B5F1-007B17D9DA95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03/03/2023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13833-91A4-4703-9E51-D463A934DA52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911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92E5-58B4-4438-B5F1-007B17D9DA95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03/03/2023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13833-91A4-4703-9E51-D463A934DA52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877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92E5-58B4-4438-B5F1-007B17D9DA95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03/03/2023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13833-91A4-4703-9E51-D463A934DA52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0704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92E5-58B4-4438-B5F1-007B17D9DA95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03/03/2023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13833-91A4-4703-9E51-D463A934DA52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8289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92E5-58B4-4438-B5F1-007B17D9DA95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03/03/2023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13833-91A4-4703-9E51-D463A934DA52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7508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92E5-58B4-4438-B5F1-007B17D9DA95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03/03/2023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13833-91A4-4703-9E51-D463A934DA52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6120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92E5-58B4-4438-B5F1-007B17D9DA95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03/03/2023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13833-91A4-4703-9E51-D463A934DA52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2121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92E5-58B4-4438-B5F1-007B17D9DA95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03/03/2023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13833-91A4-4703-9E51-D463A934DA52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20029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92E5-58B4-4438-B5F1-007B17D9DA95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03/03/2023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13833-91A4-4703-9E51-D463A934DA52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796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03/03/2023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D92E5-58B4-4438-B5F1-007B17D9DA95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03/03/2023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13833-91A4-4703-9E51-D463A934DA52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782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user.oc-static.com/upload/2019/02/24/15510259240381_Projet%20textimage%20logo.png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s3euwest1.amazonaws.com/static.ocstatic.com/prod/courses/files/Parcours_data_scientist" TargetMode="Externa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7.png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9.png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/>
          <p:cNvSpPr txBox="1"/>
          <p:nvPr/>
        </p:nvSpPr>
        <p:spPr>
          <a:xfrm>
            <a:off x="3582329" y="5559524"/>
            <a:ext cx="19639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400" b="1" dirty="0">
                <a:solidFill>
                  <a:prstClr val="white">
                    <a:lumMod val="95000"/>
                  </a:prstClr>
                </a:solidFill>
              </a:rPr>
              <a:t>Julie CAMPOS</a:t>
            </a:r>
          </a:p>
          <a:p>
            <a:endParaRPr lang="en-GB" sz="2400" b="1" dirty="0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2348880"/>
            <a:ext cx="9144000" cy="10801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>
                <a:solidFill>
                  <a:schemeClr val="bg1"/>
                </a:solidFill>
              </a:rPr>
              <a:t>Projet 06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b="1" dirty="0"/>
              <a:t>Classifiez automatiquement des biens de consommation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897515" y="5988674"/>
            <a:ext cx="1333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CH" b="1" dirty="0">
                <a:solidFill>
                  <a:prstClr val="white">
                    <a:lumMod val="95000"/>
                  </a:prstClr>
                </a:solidFill>
              </a:rPr>
              <a:t>février 2023</a:t>
            </a:r>
            <a:endParaRPr lang="en-GB" b="1" dirty="0">
              <a:solidFill>
                <a:prstClr val="white">
                  <a:lumMod val="9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6091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4221088"/>
            <a:ext cx="9144000" cy="10801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CH" dirty="0">
                <a:solidFill>
                  <a:schemeClr val="bg1">
                    <a:lumMod val="95000"/>
                  </a:schemeClr>
                </a:solidFill>
              </a:rPr>
              <a:t>Introduction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2668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2664296" y="3645024"/>
            <a:ext cx="3888432" cy="1440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24128" y="1268760"/>
            <a:ext cx="2805754" cy="4606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771083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493712" y="0"/>
            <a:ext cx="8229600" cy="764704"/>
          </a:xfrm>
        </p:spPr>
        <p:txBody>
          <a:bodyPr>
            <a:normAutofit/>
          </a:bodyPr>
          <a:lstStyle/>
          <a:p>
            <a:r>
              <a:rPr lang="fr-CH" dirty="0">
                <a:solidFill>
                  <a:schemeClr val="bg1"/>
                </a:solidFill>
              </a:rPr>
              <a:t>Contexte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4504" y="1196752"/>
            <a:ext cx="8599984" cy="125273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A2D2665C-F7F3-17A5-422C-44C76C0A0B08}"/>
              </a:ext>
            </a:extLst>
          </p:cNvPr>
          <p:cNvSpPr txBox="1">
            <a:spLocks/>
          </p:cNvSpPr>
          <p:nvPr/>
        </p:nvSpPr>
        <p:spPr>
          <a:xfrm>
            <a:off x="734888" y="1196752"/>
            <a:ext cx="8229600" cy="12527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H" b="1" dirty="0">
                <a:solidFill>
                  <a:prstClr val="white"/>
                </a:solidFill>
              </a:rPr>
              <a:t>Data </a:t>
            </a:r>
            <a:r>
              <a:rPr lang="fr-CH" b="1" dirty="0" err="1">
                <a:solidFill>
                  <a:prstClr val="white"/>
                </a:solidFill>
              </a:rPr>
              <a:t>Scientist</a:t>
            </a:r>
            <a:r>
              <a:rPr lang="fr-CH" b="1" dirty="0">
                <a:solidFill>
                  <a:prstClr val="white"/>
                </a:solidFill>
              </a:rPr>
              <a:t> pour entreprise : Place de marché </a:t>
            </a:r>
          </a:p>
          <a:p>
            <a:pPr marL="0" indent="0">
              <a:buNone/>
            </a:pPr>
            <a:r>
              <a:rPr lang="fr-FR" b="1" dirty="0">
                <a:solidFill>
                  <a:prstClr val="white"/>
                </a:solidFill>
              </a:rPr>
              <a:t>Qui souhaite lancer une marketplace e-commerce</a:t>
            </a:r>
            <a:endParaRPr lang="fr-CH" b="1" dirty="0">
              <a:solidFill>
                <a:prstClr val="white"/>
              </a:solidFill>
            </a:endParaRPr>
          </a:p>
        </p:txBody>
      </p:sp>
      <p:pic>
        <p:nvPicPr>
          <p:cNvPr id="1026" name="Picture 2" descr="logo entreprise place de marché">
            <a:hlinkClick r:id="rId2"/>
            <a:extLst>
              <a:ext uri="{FF2B5EF4-FFF2-40B4-BE49-F238E27FC236}">
                <a16:creationId xmlns:a16="http://schemas.microsoft.com/office/drawing/2014/main" id="{332A326D-F94A-2D34-F749-17F77BE30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997" y="2780928"/>
            <a:ext cx="48196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9173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7504" y="1779196"/>
            <a:ext cx="8792012" cy="64169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771083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493712" y="0"/>
            <a:ext cx="8229600" cy="764704"/>
          </a:xfrm>
        </p:spPr>
        <p:txBody>
          <a:bodyPr>
            <a:normAutofit/>
          </a:bodyPr>
          <a:lstStyle/>
          <a:p>
            <a:r>
              <a:rPr lang="fr-CH" dirty="0">
                <a:solidFill>
                  <a:schemeClr val="bg1"/>
                </a:solidFill>
              </a:rPr>
              <a:t>But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7504" y="1772816"/>
            <a:ext cx="8792012" cy="281726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07504" y="5229201"/>
            <a:ext cx="88995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b="1" dirty="0">
                <a:solidFill>
                  <a:prstClr val="white"/>
                </a:solidFill>
              </a:rPr>
              <a:t>SOURCE DATA:</a:t>
            </a:r>
          </a:p>
          <a:p>
            <a:r>
              <a:rPr lang="fr-CH" dirty="0">
                <a:solidFill>
                  <a:prstClr val="white"/>
                </a:solidFill>
                <a:hlinkClick r:id="rId2"/>
              </a:rPr>
              <a:t>https://s3euwest1.amazonaws.com/static.ocstatic.com/prod/courses/files/Parcours_data_scientist</a:t>
            </a:r>
            <a:r>
              <a:rPr lang="fr-CH" dirty="0">
                <a:solidFill>
                  <a:prstClr val="white"/>
                </a:solidFill>
              </a:rPr>
              <a:t>/Projet++Textimage+DAS+V2/Dataset+projet+pre%CC%81traitement+textes+images.zip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504" y="5229200"/>
            <a:ext cx="8792011" cy="1008112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04492699-0915-E0AC-83A9-C88673015946}"/>
              </a:ext>
            </a:extLst>
          </p:cNvPr>
          <p:cNvSpPr txBox="1">
            <a:spLocks/>
          </p:cNvSpPr>
          <p:nvPr/>
        </p:nvSpPr>
        <p:spPr>
          <a:xfrm>
            <a:off x="107504" y="1907880"/>
            <a:ext cx="9144000" cy="2817264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1100" b="1" dirty="0">
                <a:solidFill>
                  <a:schemeClr val="bg1"/>
                </a:solidFill>
              </a:rPr>
              <a:t>Etudier la faisabilité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7000" b="1" dirty="0">
                <a:solidFill>
                  <a:schemeClr val="bg1"/>
                </a:solidFill>
              </a:rPr>
              <a:t>d’une classification automatique des articles en différentes catégories: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7000" b="1" dirty="0">
                <a:solidFill>
                  <a:schemeClr val="bg1"/>
                </a:solidFill>
              </a:rPr>
              <a:t>avec un niveau de précision suffisant,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7000" b="1" dirty="0">
                <a:solidFill>
                  <a:schemeClr val="bg1"/>
                </a:solidFill>
              </a:rPr>
              <a:t>à partir de :</a:t>
            </a:r>
          </a:p>
          <a:p>
            <a:pPr lvl="1">
              <a:buFontTx/>
              <a:buChar char="-"/>
            </a:pPr>
            <a:r>
              <a:rPr lang="fr-FR" sz="6600" b="1" dirty="0">
                <a:solidFill>
                  <a:schemeClr val="bg1"/>
                </a:solidFill>
              </a:rPr>
              <a:t>descriptions (textes)</a:t>
            </a:r>
          </a:p>
          <a:p>
            <a:pPr lvl="1">
              <a:buFontTx/>
              <a:buChar char="-"/>
            </a:pPr>
            <a:r>
              <a:rPr lang="fr-FR" sz="6600" b="1" dirty="0">
                <a:solidFill>
                  <a:schemeClr val="bg1"/>
                </a:solidFill>
              </a:rPr>
              <a:t>Photos (Images)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7000" b="1" dirty="0">
                <a:solidFill>
                  <a:schemeClr val="bg1"/>
                </a:solidFill>
              </a:rPr>
              <a:t>des articles.</a:t>
            </a:r>
          </a:p>
        </p:txBody>
      </p:sp>
    </p:spTree>
    <p:extLst>
      <p:ext uri="{BB962C8B-B14F-4D97-AF65-F5344CB8AC3E}">
        <p14:creationId xmlns:p14="http://schemas.microsoft.com/office/powerpoint/2010/main" val="1824201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771083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493712" y="0"/>
            <a:ext cx="8229600" cy="764704"/>
          </a:xfrm>
        </p:spPr>
        <p:txBody>
          <a:bodyPr>
            <a:normAutofit/>
          </a:bodyPr>
          <a:lstStyle/>
          <a:p>
            <a:r>
              <a:rPr lang="fr-CH" dirty="0">
                <a:solidFill>
                  <a:schemeClr val="bg1"/>
                </a:solidFill>
              </a:rPr>
              <a:t>Problématique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1560" y="2627960"/>
            <a:ext cx="8111752" cy="2088232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575E01CC-B8D0-77FC-E3E2-B7EB60AE8BF6}"/>
              </a:ext>
            </a:extLst>
          </p:cNvPr>
          <p:cNvSpPr txBox="1">
            <a:spLocks/>
          </p:cNvSpPr>
          <p:nvPr/>
        </p:nvSpPr>
        <p:spPr>
          <a:xfrm>
            <a:off x="-108520" y="2627960"/>
            <a:ext cx="9560483" cy="2817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2800" b="1" dirty="0">
                <a:solidFill>
                  <a:schemeClr val="bg1"/>
                </a:solidFill>
              </a:rPr>
              <a:t>Est il possible de classer automatiquement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fr-FR" sz="2800" b="1" dirty="0">
                <a:solidFill>
                  <a:schemeClr val="bg1"/>
                </a:solidFill>
              </a:rPr>
              <a:t>les produits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fr-FR" sz="2800" b="1" dirty="0">
                <a:solidFill>
                  <a:schemeClr val="bg1"/>
                </a:solidFill>
              </a:rPr>
              <a:t>uniquement avec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fr-FR" sz="2800" b="1" dirty="0">
                <a:solidFill>
                  <a:schemeClr val="bg1"/>
                </a:solidFill>
              </a:rPr>
              <a:t>sa description et ses images ?</a:t>
            </a:r>
          </a:p>
        </p:txBody>
      </p:sp>
    </p:spTree>
    <p:extLst>
      <p:ext uri="{BB962C8B-B14F-4D97-AF65-F5344CB8AC3E}">
        <p14:creationId xmlns:p14="http://schemas.microsoft.com/office/powerpoint/2010/main" val="3164585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771083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3712" y="0"/>
            <a:ext cx="8229600" cy="764704"/>
          </a:xfrm>
        </p:spPr>
        <p:txBody>
          <a:bodyPr>
            <a:normAutofit/>
          </a:bodyPr>
          <a:lstStyle/>
          <a:p>
            <a:r>
              <a:rPr lang="fr-CH" dirty="0">
                <a:solidFill>
                  <a:schemeClr val="bg1"/>
                </a:solidFill>
              </a:rPr>
              <a:t>PLAN</a:t>
            </a:r>
            <a:endParaRPr lang="en-GB" dirty="0">
              <a:solidFill>
                <a:schemeClr val="bg1"/>
              </a:solidFill>
            </a:endParaRPr>
          </a:p>
        </p:txBody>
      </p:sp>
      <p:cxnSp>
        <p:nvCxnSpPr>
          <p:cNvPr id="3" name="Connecteur droit 2"/>
          <p:cNvCxnSpPr/>
          <p:nvPr/>
        </p:nvCxnSpPr>
        <p:spPr>
          <a:xfrm>
            <a:off x="0" y="764704"/>
            <a:ext cx="921702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683568" y="764704"/>
            <a:ext cx="8460432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u="sng" dirty="0">
                <a:solidFill>
                  <a:prstClr val="white">
                    <a:lumMod val="95000"/>
                  </a:prstClr>
                </a:solidFill>
              </a:rPr>
              <a:t>Introduction</a:t>
            </a:r>
          </a:p>
          <a:p>
            <a:endParaRPr lang="fr-CH" b="1" u="sng" dirty="0">
              <a:solidFill>
                <a:prstClr val="white">
                  <a:lumMod val="95000"/>
                </a:prstClr>
              </a:solidFill>
            </a:endParaRPr>
          </a:p>
          <a:p>
            <a:r>
              <a:rPr lang="fr-CH" b="1" dirty="0">
                <a:solidFill>
                  <a:prstClr val="white">
                    <a:lumMod val="95000"/>
                  </a:prstClr>
                </a:solidFill>
              </a:rPr>
              <a:t>I- </a:t>
            </a:r>
            <a:r>
              <a:rPr lang="fr-CH" b="1" u="sng" dirty="0" err="1">
                <a:solidFill>
                  <a:prstClr val="white">
                    <a:lumMod val="95000"/>
                  </a:prstClr>
                </a:solidFill>
              </a:rPr>
              <a:t>Pré-analyse</a:t>
            </a:r>
            <a:r>
              <a:rPr lang="fr-CH" b="1" u="sng" dirty="0">
                <a:solidFill>
                  <a:prstClr val="white">
                    <a:lumMod val="95000"/>
                  </a:prstClr>
                </a:solidFill>
              </a:rPr>
              <a:t> : Exploration du jeu de données</a:t>
            </a:r>
          </a:p>
          <a:p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	1. Description du contenu et</a:t>
            </a:r>
          </a:p>
          <a:p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	2. Nettoyage des données</a:t>
            </a:r>
          </a:p>
          <a:p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	3. Création d’une colonne catégorie produit</a:t>
            </a:r>
          </a:p>
          <a:p>
            <a:endParaRPr lang="fr-CH" b="1" dirty="0">
              <a:solidFill>
                <a:prstClr val="white">
                  <a:lumMod val="95000"/>
                </a:prstClr>
              </a:solidFill>
            </a:endParaRPr>
          </a:p>
          <a:p>
            <a:r>
              <a:rPr lang="fr-CH" b="1" dirty="0">
                <a:solidFill>
                  <a:prstClr val="white">
                    <a:lumMod val="95000"/>
                  </a:prstClr>
                </a:solidFill>
              </a:rPr>
              <a:t>II- </a:t>
            </a:r>
            <a:r>
              <a:rPr lang="fr-CH" b="1" u="sng" dirty="0">
                <a:solidFill>
                  <a:prstClr val="white">
                    <a:lumMod val="95000"/>
                  </a:prstClr>
                </a:solidFill>
              </a:rPr>
              <a:t>Analyse des données textuelles</a:t>
            </a:r>
          </a:p>
          <a:p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	1. Description </a:t>
            </a:r>
          </a:p>
          <a:p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	2. Préparation des documents et corpus </a:t>
            </a:r>
          </a:p>
          <a:p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	3. Analyse du corpus</a:t>
            </a:r>
          </a:p>
          <a:p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	4. Comparaison des méthodes </a:t>
            </a:r>
            <a:r>
              <a:rPr lang="fr-CH" dirty="0" err="1">
                <a:solidFill>
                  <a:prstClr val="white">
                    <a:lumMod val="95000"/>
                  </a:prstClr>
                </a:solidFill>
              </a:rPr>
              <a:t>embending</a:t>
            </a:r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 </a:t>
            </a:r>
          </a:p>
          <a:p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	     4.1 Classiques : </a:t>
            </a:r>
            <a:r>
              <a:rPr lang="fr-CH" dirty="0" err="1">
                <a:solidFill>
                  <a:prstClr val="white">
                    <a:lumMod val="95000"/>
                  </a:prstClr>
                </a:solidFill>
              </a:rPr>
              <a:t>CountVectorizer</a:t>
            </a:r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 TFIDF </a:t>
            </a:r>
          </a:p>
          <a:p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	     4.2 Réseau de neurones </a:t>
            </a:r>
          </a:p>
          <a:p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		- WORD2VEC</a:t>
            </a:r>
          </a:p>
          <a:p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		- BERT</a:t>
            </a:r>
          </a:p>
          <a:p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		- USE</a:t>
            </a:r>
            <a:endParaRPr lang="fr-CH" b="1" u="sng" dirty="0">
              <a:solidFill>
                <a:prstClr val="white">
                  <a:lumMod val="95000"/>
                </a:prstClr>
              </a:solidFill>
            </a:endParaRPr>
          </a:p>
          <a:p>
            <a:r>
              <a:rPr lang="fr-CH" b="1" dirty="0">
                <a:solidFill>
                  <a:prstClr val="white">
                    <a:lumMod val="95000"/>
                  </a:prstClr>
                </a:solidFill>
              </a:rPr>
              <a:t>III- </a:t>
            </a:r>
            <a:r>
              <a:rPr lang="fr-CH" b="1" u="sng" dirty="0">
                <a:solidFill>
                  <a:prstClr val="white"/>
                </a:solidFill>
              </a:rPr>
              <a:t>Analyse des images</a:t>
            </a:r>
          </a:p>
          <a:p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	1. Création des </a:t>
            </a:r>
            <a:r>
              <a:rPr lang="fr-CH" dirty="0" err="1">
                <a:solidFill>
                  <a:prstClr val="white">
                    <a:lumMod val="95000"/>
                  </a:prstClr>
                </a:solidFill>
              </a:rPr>
              <a:t>features</a:t>
            </a:r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 avec la méthode SIFT</a:t>
            </a:r>
            <a:endParaRPr lang="fr-CH" b="1" u="sng" dirty="0">
              <a:solidFill>
                <a:prstClr val="white"/>
              </a:solidFill>
            </a:endParaRPr>
          </a:p>
          <a:p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	2. Création des </a:t>
            </a:r>
            <a:r>
              <a:rPr lang="fr-CH" dirty="0" err="1">
                <a:solidFill>
                  <a:prstClr val="white">
                    <a:lumMod val="95000"/>
                  </a:prstClr>
                </a:solidFill>
              </a:rPr>
              <a:t>features</a:t>
            </a:r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 avec CNN (VV16</a:t>
            </a:r>
            <a:endParaRPr lang="fr-CH" b="1" u="sng" dirty="0">
              <a:solidFill>
                <a:prstClr val="white"/>
              </a:solidFill>
            </a:endParaRPr>
          </a:p>
          <a:p>
            <a:r>
              <a:rPr lang="fr-CH" b="1" dirty="0">
                <a:solidFill>
                  <a:prstClr val="white">
                    <a:lumMod val="95000"/>
                  </a:prstClr>
                </a:solidFill>
              </a:rPr>
              <a:t>	</a:t>
            </a:r>
          </a:p>
          <a:p>
            <a:r>
              <a:rPr lang="fr-CH" b="1" u="sng" dirty="0">
                <a:solidFill>
                  <a:prstClr val="white">
                    <a:lumMod val="95000"/>
                  </a:prstClr>
                </a:solidFill>
              </a:rPr>
              <a:t>Conclusion</a:t>
            </a:r>
          </a:p>
          <a:p>
            <a:r>
              <a:rPr lang="fr-CH" b="1" dirty="0">
                <a:solidFill>
                  <a:prstClr val="white">
                    <a:lumMod val="95000"/>
                  </a:prstClr>
                </a:solidFill>
              </a:rPr>
              <a:t>	</a:t>
            </a:r>
            <a:endParaRPr lang="en-GB" dirty="0">
              <a:solidFill>
                <a:prstClr val="white">
                  <a:lumMod val="9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666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4221088"/>
            <a:ext cx="9144000" cy="10801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6024" y="4437112"/>
            <a:ext cx="7772400" cy="1362075"/>
          </a:xfrm>
        </p:spPr>
        <p:txBody>
          <a:bodyPr>
            <a:normAutofit fontScale="90000"/>
          </a:bodyPr>
          <a:lstStyle/>
          <a:p>
            <a:r>
              <a:rPr lang="fr-CH" dirty="0">
                <a:solidFill>
                  <a:schemeClr val="bg1">
                    <a:lumMod val="95000"/>
                  </a:schemeClr>
                </a:solidFill>
              </a:rPr>
              <a:t>I- Pré-analyse </a:t>
            </a:r>
            <a:br>
              <a:rPr lang="fr-CH" u="sng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fr-CH" u="sng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fr-CH" u="sng" dirty="0">
                <a:solidFill>
                  <a:schemeClr val="bg1">
                    <a:lumMod val="95000"/>
                  </a:schemeClr>
                </a:solidFill>
              </a:rPr>
              <a:t>exploration du jeu de données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9967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771083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92224" y="880120"/>
            <a:ext cx="8229600" cy="748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H" dirty="0">
                <a:solidFill>
                  <a:schemeClr val="bg1">
                    <a:lumMod val="95000"/>
                  </a:schemeClr>
                </a:solidFill>
              </a:rPr>
              <a:t>1 </a:t>
            </a:r>
            <a:r>
              <a:rPr lang="fr-CH" dirty="0" err="1">
                <a:solidFill>
                  <a:schemeClr val="bg1">
                    <a:lumMod val="95000"/>
                  </a:schemeClr>
                </a:solidFill>
              </a:rPr>
              <a:t>dataset</a:t>
            </a:r>
            <a:r>
              <a:rPr lang="fr-CH" dirty="0">
                <a:solidFill>
                  <a:schemeClr val="bg1">
                    <a:lumMod val="95000"/>
                  </a:schemeClr>
                </a:solidFill>
              </a:rPr>
              <a:t> + un fichier d’images:</a:t>
            </a: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467544" y="-27384"/>
            <a:ext cx="8229600" cy="764704"/>
          </a:xfrm>
        </p:spPr>
        <p:txBody>
          <a:bodyPr>
            <a:normAutofit/>
          </a:bodyPr>
          <a:lstStyle/>
          <a:p>
            <a:r>
              <a:rPr lang="fr-CH" sz="3200" b="1" dirty="0">
                <a:solidFill>
                  <a:schemeClr val="bg1">
                    <a:lumMod val="95000"/>
                  </a:schemeClr>
                </a:solidFill>
              </a:rPr>
              <a:t>I-1. Description du contenu</a:t>
            </a:r>
          </a:p>
        </p:txBody>
      </p:sp>
      <p:sp>
        <p:nvSpPr>
          <p:cNvPr id="11" name="Flèche droite 10"/>
          <p:cNvSpPr/>
          <p:nvPr/>
        </p:nvSpPr>
        <p:spPr>
          <a:xfrm>
            <a:off x="107504" y="976164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768235" y="1988840"/>
            <a:ext cx="4680520" cy="526660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2800" dirty="0">
                <a:solidFill>
                  <a:schemeClr val="bg1">
                    <a:lumMod val="95000"/>
                  </a:schemeClr>
                </a:solidFill>
              </a:rPr>
              <a:t>1050 lignes / 15 colonnes</a:t>
            </a:r>
            <a:endParaRPr lang="en-GB" sz="2800" dirty="0"/>
          </a:p>
        </p:txBody>
      </p:sp>
      <p:sp>
        <p:nvSpPr>
          <p:cNvPr id="16" name="Flèche droite 15"/>
          <p:cNvSpPr/>
          <p:nvPr/>
        </p:nvSpPr>
        <p:spPr>
          <a:xfrm rot="3486816">
            <a:off x="5494172" y="2682522"/>
            <a:ext cx="504056" cy="432048"/>
          </a:xfrm>
          <a:prstGeom prst="righ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Flèche droite 16"/>
          <p:cNvSpPr/>
          <p:nvPr/>
        </p:nvSpPr>
        <p:spPr>
          <a:xfrm rot="18113184" flipH="1">
            <a:off x="2628812" y="2656709"/>
            <a:ext cx="504056" cy="432048"/>
          </a:xfrm>
          <a:prstGeom prst="righ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1768235" y="3181159"/>
            <a:ext cx="1479589" cy="48441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4749907" y="3200842"/>
            <a:ext cx="3384376" cy="2171702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ZoneTexte 24"/>
          <p:cNvSpPr txBox="1"/>
          <p:nvPr/>
        </p:nvSpPr>
        <p:spPr>
          <a:xfrm>
            <a:off x="2045268" y="3202163"/>
            <a:ext cx="1584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000" b="1" dirty="0">
                <a:solidFill>
                  <a:schemeClr val="bg1">
                    <a:lumMod val="95000"/>
                  </a:schemeClr>
                </a:solidFill>
              </a:rPr>
              <a:t>produit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4840973" y="3132996"/>
            <a:ext cx="4195523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CH" sz="2400" b="1" dirty="0">
                <a:solidFill>
                  <a:schemeClr val="bg1"/>
                </a:solidFill>
              </a:rPr>
              <a:t>3 types d’informations: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600" b="1" u="sng" dirty="0">
                <a:solidFill>
                  <a:schemeClr val="bg1"/>
                </a:solidFill>
              </a:rPr>
              <a:t>Produits</a:t>
            </a:r>
            <a:r>
              <a:rPr lang="fr-CH" sz="1600" b="1" dirty="0">
                <a:solidFill>
                  <a:schemeClr val="bg1"/>
                </a:solidFill>
              </a:rPr>
              <a:t> : ID, prix, url, marque </a:t>
            </a:r>
            <a:endParaRPr lang="fr-CH" sz="1600" dirty="0">
              <a:solidFill>
                <a:schemeClr val="bg1"/>
              </a:solidFill>
            </a:endParaRPr>
          </a:p>
          <a:p>
            <a:endParaRPr lang="fr-CH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600" b="1" u="sng" dirty="0">
                <a:solidFill>
                  <a:schemeClr val="bg1"/>
                </a:solidFill>
              </a:rPr>
              <a:t>Textes</a:t>
            </a:r>
            <a:r>
              <a:rPr lang="fr-CH" sz="1600" b="1" dirty="0">
                <a:solidFill>
                  <a:schemeClr val="bg1"/>
                </a:solidFill>
              </a:rPr>
              <a:t> : description produit,  nom </a:t>
            </a:r>
          </a:p>
          <a:p>
            <a:r>
              <a:rPr lang="fr-CH" sz="1600" b="1" dirty="0">
                <a:solidFill>
                  <a:schemeClr val="bg1"/>
                </a:solidFill>
              </a:rPr>
              <a:t>      produit, catégorie </a:t>
            </a:r>
            <a:r>
              <a:rPr lang="fr-CH" sz="1600" b="1" dirty="0" err="1">
                <a:solidFill>
                  <a:schemeClr val="bg1"/>
                </a:solidFill>
              </a:rPr>
              <a:t>tree</a:t>
            </a:r>
            <a:endParaRPr lang="fr-CH" sz="1600" b="1" dirty="0">
              <a:solidFill>
                <a:schemeClr val="bg1"/>
              </a:solidFill>
            </a:endParaRPr>
          </a:p>
          <a:p>
            <a:endParaRPr lang="fr-CH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600" b="1" u="sng" dirty="0">
                <a:solidFill>
                  <a:schemeClr val="bg1"/>
                </a:solidFill>
              </a:rPr>
              <a:t>Images</a:t>
            </a:r>
            <a:r>
              <a:rPr lang="fr-CH" sz="1600" b="1" dirty="0">
                <a:solidFill>
                  <a:schemeClr val="bg1"/>
                </a:solidFill>
              </a:rPr>
              <a:t> </a:t>
            </a:r>
            <a:r>
              <a:rPr lang="fr-CH" sz="1600" dirty="0">
                <a:solidFill>
                  <a:schemeClr val="bg1"/>
                </a:solidFill>
              </a:rPr>
              <a:t>: une image par produit</a:t>
            </a:r>
            <a:endParaRPr lang="fr-CH" sz="1600" b="1" u="sng" dirty="0">
              <a:solidFill>
                <a:schemeClr val="bg1"/>
              </a:solidFill>
            </a:endParaRPr>
          </a:p>
          <a:p>
            <a:endParaRPr lang="fr-CH" sz="1600" b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5806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771083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92224" y="880120"/>
            <a:ext cx="8229600" cy="748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H" dirty="0">
                <a:solidFill>
                  <a:schemeClr val="bg1">
                    <a:lumMod val="95000"/>
                  </a:schemeClr>
                </a:solidFill>
              </a:rPr>
              <a:t>Variables quantitatives:</a:t>
            </a: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467544" y="-27384"/>
            <a:ext cx="8229600" cy="764704"/>
          </a:xfrm>
        </p:spPr>
        <p:txBody>
          <a:bodyPr>
            <a:normAutofit/>
          </a:bodyPr>
          <a:lstStyle/>
          <a:p>
            <a:r>
              <a:rPr lang="fr-CH" sz="3200" b="1" dirty="0">
                <a:solidFill>
                  <a:schemeClr val="bg1">
                    <a:lumMod val="95000"/>
                  </a:schemeClr>
                </a:solidFill>
              </a:rPr>
              <a:t>I-1. Description du contenu</a:t>
            </a:r>
          </a:p>
        </p:txBody>
      </p:sp>
      <p:sp>
        <p:nvSpPr>
          <p:cNvPr id="11" name="Flèche droite 10"/>
          <p:cNvSpPr/>
          <p:nvPr/>
        </p:nvSpPr>
        <p:spPr>
          <a:xfrm>
            <a:off x="107504" y="976164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1954C1A-12C8-8A04-B371-D1BFF9BBF4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288" t="16687" r="63387" b="58400"/>
          <a:stretch/>
        </p:blipFill>
        <p:spPr>
          <a:xfrm>
            <a:off x="2627784" y="1681841"/>
            <a:ext cx="3406142" cy="275527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AAFCA2E-95AE-6E19-27C1-46EB02F1B4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161" t="61606" r="42284" b="29031"/>
          <a:stretch/>
        </p:blipFill>
        <p:spPr>
          <a:xfrm>
            <a:off x="1922714" y="5378001"/>
            <a:ext cx="4434476" cy="103549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8A78D44-226D-41B3-5D8E-8756631F3B9B}"/>
              </a:ext>
            </a:extLst>
          </p:cNvPr>
          <p:cNvSpPr/>
          <p:nvPr/>
        </p:nvSpPr>
        <p:spPr>
          <a:xfrm>
            <a:off x="2659256" y="1665749"/>
            <a:ext cx="3384376" cy="264180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èche droite 16">
            <a:extLst>
              <a:ext uri="{FF2B5EF4-FFF2-40B4-BE49-F238E27FC236}">
                <a16:creationId xmlns:a16="http://schemas.microsoft.com/office/drawing/2014/main" id="{62FBF616-565D-2FA9-39CC-C125CFF08F83}"/>
              </a:ext>
            </a:extLst>
          </p:cNvPr>
          <p:cNvSpPr/>
          <p:nvPr/>
        </p:nvSpPr>
        <p:spPr>
          <a:xfrm rot="16200000" flipH="1">
            <a:off x="4103948" y="4691533"/>
            <a:ext cx="504056" cy="432048"/>
          </a:xfrm>
          <a:prstGeom prst="righ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DA54A-2D95-BBBE-2C64-58D0E38CFBA3}"/>
              </a:ext>
            </a:extLst>
          </p:cNvPr>
          <p:cNvSpPr/>
          <p:nvPr/>
        </p:nvSpPr>
        <p:spPr>
          <a:xfrm>
            <a:off x="6012160" y="5733256"/>
            <a:ext cx="720080" cy="38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5630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-27384"/>
            <a:ext cx="9144000" cy="771083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467544" y="-27384"/>
            <a:ext cx="8229600" cy="764704"/>
          </a:xfrm>
        </p:spPr>
        <p:txBody>
          <a:bodyPr>
            <a:normAutofit/>
          </a:bodyPr>
          <a:lstStyle/>
          <a:p>
            <a:r>
              <a:rPr lang="fr-CH" sz="3200" b="1" dirty="0">
                <a:solidFill>
                  <a:schemeClr val="bg1">
                    <a:lumMod val="95000"/>
                  </a:schemeClr>
                </a:solidFill>
              </a:rPr>
              <a:t>I-2. Nettoyage des données</a:t>
            </a: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FA0C4E5B-2479-DA59-67AF-DEA76140D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224" y="880120"/>
            <a:ext cx="8229600" cy="748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H" dirty="0">
                <a:solidFill>
                  <a:schemeClr val="bg1">
                    <a:lumMod val="95000"/>
                  </a:schemeClr>
                </a:solidFill>
              </a:rPr>
              <a:t>NaN</a:t>
            </a:r>
          </a:p>
        </p:txBody>
      </p:sp>
      <p:sp>
        <p:nvSpPr>
          <p:cNvPr id="3" name="Flèche droite 10">
            <a:extLst>
              <a:ext uri="{FF2B5EF4-FFF2-40B4-BE49-F238E27FC236}">
                <a16:creationId xmlns:a16="http://schemas.microsoft.com/office/drawing/2014/main" id="{0525C4A5-2E83-A922-7025-6029BB19BE63}"/>
              </a:ext>
            </a:extLst>
          </p:cNvPr>
          <p:cNvSpPr/>
          <p:nvPr/>
        </p:nvSpPr>
        <p:spPr>
          <a:xfrm>
            <a:off x="107504" y="976164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7E98F63C-E754-0D3B-E0F3-027F841887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526" t="38338" r="56062" b="32088"/>
          <a:stretch/>
        </p:blipFill>
        <p:spPr>
          <a:xfrm>
            <a:off x="1907704" y="1844824"/>
            <a:ext cx="5184576" cy="353295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E26EBFC-16CF-4D43-86AD-0E82ABE55B63}"/>
              </a:ext>
            </a:extLst>
          </p:cNvPr>
          <p:cNvSpPr/>
          <p:nvPr/>
        </p:nvSpPr>
        <p:spPr>
          <a:xfrm>
            <a:off x="1979712" y="1844824"/>
            <a:ext cx="4896544" cy="3676972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952AC7-FA19-9C4D-3F81-77CF6FDAE9FB}"/>
              </a:ext>
            </a:extLst>
          </p:cNvPr>
          <p:cNvSpPr/>
          <p:nvPr/>
        </p:nvSpPr>
        <p:spPr>
          <a:xfrm>
            <a:off x="1979712" y="3337113"/>
            <a:ext cx="4896544" cy="548783"/>
          </a:xfrm>
          <a:prstGeom prst="rect">
            <a:avLst/>
          </a:prstGeom>
          <a:solidFill>
            <a:schemeClr val="accent1">
              <a:alpha val="52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88D35F-8265-3653-3971-E76507184424}"/>
              </a:ext>
            </a:extLst>
          </p:cNvPr>
          <p:cNvSpPr/>
          <p:nvPr/>
        </p:nvSpPr>
        <p:spPr>
          <a:xfrm>
            <a:off x="1979712" y="4621999"/>
            <a:ext cx="4896544" cy="305071"/>
          </a:xfrm>
          <a:prstGeom prst="rect">
            <a:avLst/>
          </a:prstGeom>
          <a:solidFill>
            <a:schemeClr val="accent1">
              <a:alpha val="52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  <p:sp>
        <p:nvSpPr>
          <p:cNvPr id="16" name="Flèche droite 10">
            <a:extLst>
              <a:ext uri="{FF2B5EF4-FFF2-40B4-BE49-F238E27FC236}">
                <a16:creationId xmlns:a16="http://schemas.microsoft.com/office/drawing/2014/main" id="{0C0D2820-21AF-BC0D-8443-A6E6AF52F622}"/>
              </a:ext>
            </a:extLst>
          </p:cNvPr>
          <p:cNvSpPr/>
          <p:nvPr/>
        </p:nvSpPr>
        <p:spPr>
          <a:xfrm>
            <a:off x="7355970" y="3630411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E5CC0C-CFC3-FAC7-D9B5-A30B647A36D9}"/>
              </a:ext>
            </a:extLst>
          </p:cNvPr>
          <p:cNvSpPr/>
          <p:nvPr/>
        </p:nvSpPr>
        <p:spPr>
          <a:xfrm>
            <a:off x="7951910" y="3600794"/>
            <a:ext cx="5613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H" sz="2400" b="1" dirty="0">
                <a:solidFill>
                  <a:schemeClr val="accent1"/>
                </a:solidFill>
              </a:rPr>
              <a:t>OK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E9561A-DB7E-B22A-364A-C07CBBAD7FBD}"/>
              </a:ext>
            </a:extLst>
          </p:cNvPr>
          <p:cNvSpPr/>
          <p:nvPr/>
        </p:nvSpPr>
        <p:spPr>
          <a:xfrm>
            <a:off x="1938130" y="2581839"/>
            <a:ext cx="4896544" cy="305071"/>
          </a:xfrm>
          <a:prstGeom prst="rect">
            <a:avLst/>
          </a:prstGeom>
          <a:solidFill>
            <a:schemeClr val="accent1">
              <a:alpha val="52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085633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AFE40B7E-DD4A-5BFA-CA57-EBE93FC21D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288" t="44400" r="59450" b="31762"/>
          <a:stretch/>
        </p:blipFill>
        <p:spPr>
          <a:xfrm>
            <a:off x="2638128" y="2572969"/>
            <a:ext cx="3774104" cy="238006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-27384"/>
            <a:ext cx="9144000" cy="771083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0F3C0EA4-1316-D381-0831-70D223D50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224" y="880120"/>
            <a:ext cx="8229600" cy="748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H" dirty="0">
                <a:solidFill>
                  <a:schemeClr val="bg1">
                    <a:lumMod val="95000"/>
                  </a:schemeClr>
                </a:solidFill>
              </a:rPr>
              <a:t>Doublons (check unique)</a:t>
            </a:r>
          </a:p>
        </p:txBody>
      </p:sp>
      <p:sp>
        <p:nvSpPr>
          <p:cNvPr id="3" name="Flèche droite 10">
            <a:extLst>
              <a:ext uri="{FF2B5EF4-FFF2-40B4-BE49-F238E27FC236}">
                <a16:creationId xmlns:a16="http://schemas.microsoft.com/office/drawing/2014/main" id="{30B92875-D051-D578-627B-B399F7CE9844}"/>
              </a:ext>
            </a:extLst>
          </p:cNvPr>
          <p:cNvSpPr/>
          <p:nvPr/>
        </p:nvSpPr>
        <p:spPr>
          <a:xfrm>
            <a:off x="107504" y="976164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lèche droite 10">
            <a:extLst>
              <a:ext uri="{FF2B5EF4-FFF2-40B4-BE49-F238E27FC236}">
                <a16:creationId xmlns:a16="http://schemas.microsoft.com/office/drawing/2014/main" id="{C20EEEC0-5080-6185-966A-D51B141D2248}"/>
              </a:ext>
            </a:extLst>
          </p:cNvPr>
          <p:cNvSpPr/>
          <p:nvPr/>
        </p:nvSpPr>
        <p:spPr>
          <a:xfrm>
            <a:off x="6727056" y="3602633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9784BC-427C-64E2-D1AB-23EC9F628C3C}"/>
              </a:ext>
            </a:extLst>
          </p:cNvPr>
          <p:cNvSpPr/>
          <p:nvPr/>
        </p:nvSpPr>
        <p:spPr>
          <a:xfrm>
            <a:off x="7322996" y="3573016"/>
            <a:ext cx="5613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H" sz="2400" b="1" dirty="0">
                <a:solidFill>
                  <a:schemeClr val="accent1"/>
                </a:solidFill>
              </a:rPr>
              <a:t>OK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0A64BE-28C6-4993-560B-4790CEEA35D4}"/>
              </a:ext>
            </a:extLst>
          </p:cNvPr>
          <p:cNvSpPr/>
          <p:nvPr/>
        </p:nvSpPr>
        <p:spPr>
          <a:xfrm>
            <a:off x="2627784" y="2581746"/>
            <a:ext cx="3744416" cy="237128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698C17-E5A4-9E67-8ACA-BD425F119FA3}"/>
              </a:ext>
            </a:extLst>
          </p:cNvPr>
          <p:cNvSpPr/>
          <p:nvPr/>
        </p:nvSpPr>
        <p:spPr>
          <a:xfrm>
            <a:off x="2658413" y="4271544"/>
            <a:ext cx="3713787" cy="245641"/>
          </a:xfrm>
          <a:prstGeom prst="rect">
            <a:avLst/>
          </a:prstGeom>
          <a:solidFill>
            <a:schemeClr val="accent1">
              <a:alpha val="52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61A447-21B0-7C3F-837F-1526BCE722EF}"/>
              </a:ext>
            </a:extLst>
          </p:cNvPr>
          <p:cNvSpPr/>
          <p:nvPr/>
        </p:nvSpPr>
        <p:spPr>
          <a:xfrm>
            <a:off x="2610543" y="2564904"/>
            <a:ext cx="3761657" cy="305071"/>
          </a:xfrm>
          <a:prstGeom prst="rect">
            <a:avLst/>
          </a:prstGeom>
          <a:solidFill>
            <a:schemeClr val="accent1">
              <a:alpha val="52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030175-8222-E1F4-FBBB-B6540E14F7AE}"/>
              </a:ext>
            </a:extLst>
          </p:cNvPr>
          <p:cNvSpPr/>
          <p:nvPr/>
        </p:nvSpPr>
        <p:spPr>
          <a:xfrm>
            <a:off x="2627784" y="4686553"/>
            <a:ext cx="3713787" cy="245641"/>
          </a:xfrm>
          <a:prstGeom prst="rect">
            <a:avLst/>
          </a:prstGeom>
          <a:solidFill>
            <a:schemeClr val="accent1">
              <a:alpha val="52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5C8EDC-1C7F-58FA-3558-1F29FECFAF74}"/>
              </a:ext>
            </a:extLst>
          </p:cNvPr>
          <p:cNvSpPr/>
          <p:nvPr/>
        </p:nvSpPr>
        <p:spPr>
          <a:xfrm>
            <a:off x="2638128" y="3212068"/>
            <a:ext cx="3713787" cy="245641"/>
          </a:xfrm>
          <a:prstGeom prst="rect">
            <a:avLst/>
          </a:prstGeom>
          <a:solidFill>
            <a:schemeClr val="accent1">
              <a:alpha val="52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A9A71363-009C-E8A9-D7DE-C21031BF8780}"/>
              </a:ext>
            </a:extLst>
          </p:cNvPr>
          <p:cNvSpPr txBox="1">
            <a:spLocks/>
          </p:cNvSpPr>
          <p:nvPr/>
        </p:nvSpPr>
        <p:spPr>
          <a:xfrm>
            <a:off x="467544" y="-27384"/>
            <a:ext cx="8229600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sz="3200" b="1">
                <a:solidFill>
                  <a:schemeClr val="bg1">
                    <a:lumMod val="95000"/>
                  </a:schemeClr>
                </a:solidFill>
              </a:rPr>
              <a:t>I-2. Nettoyage des données</a:t>
            </a:r>
            <a:endParaRPr lang="fr-CH" sz="320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683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-27384"/>
            <a:ext cx="9144000" cy="771083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467544" y="-27384"/>
            <a:ext cx="8229600" cy="764704"/>
          </a:xfrm>
        </p:spPr>
        <p:txBody>
          <a:bodyPr>
            <a:normAutofit/>
          </a:bodyPr>
          <a:lstStyle/>
          <a:p>
            <a:r>
              <a:rPr lang="fr-CH" sz="3200" b="1" dirty="0">
                <a:solidFill>
                  <a:schemeClr val="bg1">
                    <a:lumMod val="95000"/>
                  </a:schemeClr>
                </a:solidFill>
              </a:rPr>
              <a:t>I-</a:t>
            </a:r>
            <a:r>
              <a:rPr lang="fr-FR" sz="3200" b="1" dirty="0">
                <a:solidFill>
                  <a:schemeClr val="bg1">
                    <a:lumMod val="95000"/>
                  </a:schemeClr>
                </a:solidFill>
              </a:rPr>
              <a:t>3. Création d’une colonne catégorie produit</a:t>
            </a:r>
            <a:endParaRPr lang="fr-CH" sz="3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0F3C0EA4-1316-D381-0831-70D223D50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224" y="880120"/>
            <a:ext cx="8229600" cy="748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H" dirty="0">
                <a:solidFill>
                  <a:schemeClr val="bg1">
                    <a:lumMod val="95000"/>
                  </a:schemeClr>
                </a:solidFill>
              </a:rPr>
              <a:t>A partir de : </a:t>
            </a:r>
            <a:r>
              <a:rPr lang="fr-CH" dirty="0" err="1">
                <a:solidFill>
                  <a:schemeClr val="bg1">
                    <a:lumMod val="95000"/>
                  </a:schemeClr>
                </a:solidFill>
              </a:rPr>
              <a:t>product</a:t>
            </a:r>
            <a:r>
              <a:rPr lang="fr-CH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fr-CH" dirty="0" err="1">
                <a:solidFill>
                  <a:schemeClr val="bg1">
                    <a:lumMod val="95000"/>
                  </a:schemeClr>
                </a:solidFill>
              </a:rPr>
              <a:t>category</a:t>
            </a:r>
            <a:r>
              <a:rPr lang="fr-CH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fr-CH" dirty="0" err="1">
                <a:solidFill>
                  <a:schemeClr val="bg1">
                    <a:lumMod val="95000"/>
                  </a:schemeClr>
                </a:solidFill>
              </a:rPr>
              <a:t>tree</a:t>
            </a:r>
            <a:r>
              <a:rPr lang="fr-CH" dirty="0">
                <a:solidFill>
                  <a:schemeClr val="bg1">
                    <a:lumMod val="95000"/>
                  </a:schemeClr>
                </a:solidFill>
              </a:rPr>
              <a:t> :  </a:t>
            </a:r>
          </a:p>
        </p:txBody>
      </p:sp>
      <p:sp>
        <p:nvSpPr>
          <p:cNvPr id="3" name="Flèche droite 10">
            <a:extLst>
              <a:ext uri="{FF2B5EF4-FFF2-40B4-BE49-F238E27FC236}">
                <a16:creationId xmlns:a16="http://schemas.microsoft.com/office/drawing/2014/main" id="{30B92875-D051-D578-627B-B399F7CE9844}"/>
              </a:ext>
            </a:extLst>
          </p:cNvPr>
          <p:cNvSpPr/>
          <p:nvPr/>
        </p:nvSpPr>
        <p:spPr>
          <a:xfrm>
            <a:off x="107504" y="976164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lèche droite 10">
            <a:extLst>
              <a:ext uri="{FF2B5EF4-FFF2-40B4-BE49-F238E27FC236}">
                <a16:creationId xmlns:a16="http://schemas.microsoft.com/office/drawing/2014/main" id="{C20EEEC0-5080-6185-966A-D51B141D2248}"/>
              </a:ext>
            </a:extLst>
          </p:cNvPr>
          <p:cNvSpPr/>
          <p:nvPr/>
        </p:nvSpPr>
        <p:spPr>
          <a:xfrm rot="5400000">
            <a:off x="4247964" y="3996444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9784BC-427C-64E2-D1AB-23EC9F628C3C}"/>
              </a:ext>
            </a:extLst>
          </p:cNvPr>
          <p:cNvSpPr/>
          <p:nvPr/>
        </p:nvSpPr>
        <p:spPr>
          <a:xfrm>
            <a:off x="4175441" y="3602370"/>
            <a:ext cx="63158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H" sz="1400" b="1" i="1" dirty="0">
                <a:solidFill>
                  <a:schemeClr val="accent1"/>
                </a:solidFill>
              </a:rPr>
              <a:t>Regex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B6CB06B-90D4-EF37-FC97-212B10E233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438" t="27095" r="18500" b="47567"/>
          <a:stretch/>
        </p:blipFill>
        <p:spPr>
          <a:xfrm>
            <a:off x="187625" y="1466919"/>
            <a:ext cx="8734199" cy="210772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B39D07C-8AC7-4789-D67A-E103C57C66AD}"/>
              </a:ext>
            </a:extLst>
          </p:cNvPr>
          <p:cNvSpPr/>
          <p:nvPr/>
        </p:nvSpPr>
        <p:spPr>
          <a:xfrm>
            <a:off x="187625" y="1524045"/>
            <a:ext cx="8734199" cy="205059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758771-9B0D-FC28-6A74-322C91CB53B4}"/>
              </a:ext>
            </a:extLst>
          </p:cNvPr>
          <p:cNvSpPr/>
          <p:nvPr/>
        </p:nvSpPr>
        <p:spPr>
          <a:xfrm>
            <a:off x="3329862" y="4673456"/>
            <a:ext cx="2340260" cy="526660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2800" dirty="0">
                <a:solidFill>
                  <a:schemeClr val="bg1">
                    <a:lumMod val="95000"/>
                  </a:schemeClr>
                </a:solidFill>
              </a:rPr>
              <a:t>7 catégories</a:t>
            </a:r>
            <a:endParaRPr lang="en-GB" sz="2800"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D0B4872E-8FB2-07E3-CA40-F49C0C9425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580" t="39653" r="67082" b="44362"/>
          <a:stretch/>
        </p:blipFill>
        <p:spPr>
          <a:xfrm>
            <a:off x="3563876" y="5256788"/>
            <a:ext cx="2036936" cy="14845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99485C4-0EB3-44C2-3079-5843F4E709F1}"/>
              </a:ext>
            </a:extLst>
          </p:cNvPr>
          <p:cNvSpPr/>
          <p:nvPr/>
        </p:nvSpPr>
        <p:spPr>
          <a:xfrm>
            <a:off x="1956335" y="1581143"/>
            <a:ext cx="1031489" cy="175339"/>
          </a:xfrm>
          <a:prstGeom prst="rect">
            <a:avLst/>
          </a:prstGeom>
          <a:solidFill>
            <a:schemeClr val="accent1">
              <a:alpha val="52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BD5E12-52D8-1B76-DB7A-1F0E778F7DB8}"/>
              </a:ext>
            </a:extLst>
          </p:cNvPr>
          <p:cNvSpPr/>
          <p:nvPr/>
        </p:nvSpPr>
        <p:spPr>
          <a:xfrm>
            <a:off x="359533" y="1728192"/>
            <a:ext cx="684076" cy="153553"/>
          </a:xfrm>
          <a:prstGeom prst="rect">
            <a:avLst/>
          </a:prstGeom>
          <a:solidFill>
            <a:schemeClr val="accent1">
              <a:alpha val="52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6C267C-4318-1AE1-C047-A5D16A2AB324}"/>
              </a:ext>
            </a:extLst>
          </p:cNvPr>
          <p:cNvSpPr/>
          <p:nvPr/>
        </p:nvSpPr>
        <p:spPr>
          <a:xfrm>
            <a:off x="473056" y="2102237"/>
            <a:ext cx="1074608" cy="153553"/>
          </a:xfrm>
          <a:prstGeom prst="rect">
            <a:avLst/>
          </a:prstGeom>
          <a:solidFill>
            <a:schemeClr val="accent1">
              <a:alpha val="52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4F4E9C-C8F8-D390-2DEC-72505DBE3E3A}"/>
              </a:ext>
            </a:extLst>
          </p:cNvPr>
          <p:cNvSpPr/>
          <p:nvPr/>
        </p:nvSpPr>
        <p:spPr>
          <a:xfrm>
            <a:off x="1022193" y="2283093"/>
            <a:ext cx="1074608" cy="175339"/>
          </a:xfrm>
          <a:prstGeom prst="rect">
            <a:avLst/>
          </a:prstGeom>
          <a:solidFill>
            <a:schemeClr val="accent1">
              <a:alpha val="52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FE4A0C-5262-CC21-7677-44FB0A7F94FD}"/>
              </a:ext>
            </a:extLst>
          </p:cNvPr>
          <p:cNvSpPr/>
          <p:nvPr/>
        </p:nvSpPr>
        <p:spPr>
          <a:xfrm>
            <a:off x="441688" y="1918467"/>
            <a:ext cx="684076" cy="153553"/>
          </a:xfrm>
          <a:prstGeom prst="rect">
            <a:avLst/>
          </a:prstGeom>
          <a:solidFill>
            <a:schemeClr val="accent1">
              <a:alpha val="52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069C9F-D64D-AA14-41E4-6A80C6C28750}"/>
              </a:ext>
            </a:extLst>
          </p:cNvPr>
          <p:cNvSpPr/>
          <p:nvPr/>
        </p:nvSpPr>
        <p:spPr>
          <a:xfrm>
            <a:off x="3329863" y="4681428"/>
            <a:ext cx="2340260" cy="205059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51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4221088"/>
            <a:ext cx="9144000" cy="10801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2" y="4406900"/>
            <a:ext cx="8386191" cy="1542380"/>
          </a:xfrm>
        </p:spPr>
        <p:txBody>
          <a:bodyPr>
            <a:normAutofit/>
          </a:bodyPr>
          <a:lstStyle/>
          <a:p>
            <a:r>
              <a:rPr lang="fr-CH" dirty="0">
                <a:solidFill>
                  <a:schemeClr val="bg1">
                    <a:lumMod val="95000"/>
                  </a:schemeClr>
                </a:solidFill>
              </a:rPr>
              <a:t>II- </a:t>
            </a:r>
            <a:r>
              <a:rPr lang="fr-CH" b="1" dirty="0">
                <a:solidFill>
                  <a:prstClr val="white">
                    <a:lumMod val="95000"/>
                  </a:prstClr>
                </a:solidFill>
              </a:rPr>
              <a:t>Analyse des données textuelles</a:t>
            </a:r>
            <a:br>
              <a:rPr lang="fr-CH" b="1" u="sng" dirty="0">
                <a:solidFill>
                  <a:prstClr val="white">
                    <a:lumMod val="95000"/>
                  </a:prstClr>
                </a:solidFill>
              </a:rPr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6199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771083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3712" y="0"/>
            <a:ext cx="8229600" cy="764704"/>
          </a:xfrm>
        </p:spPr>
        <p:txBody>
          <a:bodyPr>
            <a:normAutofit/>
          </a:bodyPr>
          <a:lstStyle/>
          <a:p>
            <a:r>
              <a:rPr lang="fr-CH" dirty="0">
                <a:solidFill>
                  <a:schemeClr val="bg1"/>
                </a:solidFill>
              </a:rPr>
              <a:t>PLAN</a:t>
            </a:r>
            <a:endParaRPr lang="en-GB" dirty="0">
              <a:solidFill>
                <a:schemeClr val="bg1"/>
              </a:solidFill>
            </a:endParaRPr>
          </a:p>
        </p:txBody>
      </p:sp>
      <p:cxnSp>
        <p:nvCxnSpPr>
          <p:cNvPr id="3" name="Connecteur droit 2"/>
          <p:cNvCxnSpPr/>
          <p:nvPr/>
        </p:nvCxnSpPr>
        <p:spPr>
          <a:xfrm>
            <a:off x="0" y="764704"/>
            <a:ext cx="921702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683568" y="764704"/>
            <a:ext cx="8460432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Introduction</a:t>
            </a:r>
          </a:p>
          <a:p>
            <a:endParaRPr lang="fr-CH" b="1" u="sng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fr-CH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I- </a:t>
            </a:r>
            <a:r>
              <a:rPr lang="fr-CH" b="1" u="sng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Pré-analyse</a:t>
            </a:r>
            <a:r>
              <a:rPr lang="fr-CH" b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: Exploration du jeu de données</a:t>
            </a:r>
          </a:p>
          <a:p>
            <a:r>
              <a:rPr lang="fr-CH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1. Description du contenu et</a:t>
            </a:r>
          </a:p>
          <a:p>
            <a:r>
              <a:rPr lang="fr-CH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2. Nettoyage des données</a:t>
            </a:r>
          </a:p>
          <a:p>
            <a:r>
              <a:rPr lang="fr-CH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3. Création d’une colonne catégorie produit</a:t>
            </a:r>
          </a:p>
          <a:p>
            <a:endParaRPr lang="fr-CH" b="1" dirty="0">
              <a:solidFill>
                <a:prstClr val="white">
                  <a:lumMod val="95000"/>
                </a:prstClr>
              </a:solidFill>
            </a:endParaRPr>
          </a:p>
          <a:p>
            <a:r>
              <a:rPr lang="fr-CH" b="1" dirty="0">
                <a:solidFill>
                  <a:prstClr val="white">
                    <a:lumMod val="95000"/>
                  </a:prstClr>
                </a:solidFill>
              </a:rPr>
              <a:t>II- </a:t>
            </a:r>
            <a:r>
              <a:rPr lang="fr-CH" b="1" u="sng" dirty="0">
                <a:solidFill>
                  <a:prstClr val="white">
                    <a:lumMod val="95000"/>
                  </a:prstClr>
                </a:solidFill>
              </a:rPr>
              <a:t>Analyse des données textuelles</a:t>
            </a:r>
          </a:p>
          <a:p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	1. Description </a:t>
            </a:r>
          </a:p>
          <a:p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	2. Préparation des documents et corpus </a:t>
            </a:r>
          </a:p>
          <a:p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	3. Analyse du corpus</a:t>
            </a:r>
          </a:p>
          <a:p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	4. Comparaison des méthodes </a:t>
            </a:r>
            <a:r>
              <a:rPr lang="fr-CH" dirty="0" err="1">
                <a:solidFill>
                  <a:prstClr val="white">
                    <a:lumMod val="95000"/>
                  </a:prstClr>
                </a:solidFill>
              </a:rPr>
              <a:t>embending</a:t>
            </a:r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 </a:t>
            </a:r>
          </a:p>
          <a:p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	     4.1 Classiques : </a:t>
            </a:r>
            <a:r>
              <a:rPr lang="fr-CH" dirty="0" err="1">
                <a:solidFill>
                  <a:prstClr val="white">
                    <a:lumMod val="95000"/>
                  </a:prstClr>
                </a:solidFill>
              </a:rPr>
              <a:t>CountVectorizer</a:t>
            </a:r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 TFIDF </a:t>
            </a:r>
          </a:p>
          <a:p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	     4.2 Réseau de neurones </a:t>
            </a:r>
          </a:p>
          <a:p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		- WORD2VEC</a:t>
            </a:r>
          </a:p>
          <a:p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		- BERT</a:t>
            </a:r>
          </a:p>
          <a:p>
            <a:r>
              <a:rPr lang="fr-CH" dirty="0">
                <a:solidFill>
                  <a:prstClr val="white">
                    <a:lumMod val="95000"/>
                  </a:prstClr>
                </a:solidFill>
              </a:rPr>
              <a:t>		- USE</a:t>
            </a:r>
            <a:endParaRPr lang="fr-CH" b="1" u="sng" dirty="0">
              <a:solidFill>
                <a:prstClr val="white">
                  <a:lumMod val="95000"/>
                </a:prstClr>
              </a:solidFill>
            </a:endParaRPr>
          </a:p>
          <a:p>
            <a:r>
              <a:rPr lang="fr-CH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III- </a:t>
            </a:r>
            <a:r>
              <a:rPr lang="fr-CH" b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Analyse des images</a:t>
            </a:r>
          </a:p>
          <a:p>
            <a:r>
              <a:rPr lang="fr-CH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1. Création des </a:t>
            </a:r>
            <a:r>
              <a:rPr lang="fr-CH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features</a:t>
            </a:r>
            <a:r>
              <a:rPr lang="fr-CH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avec la méthode SIFT</a:t>
            </a:r>
            <a:endParaRPr lang="fr-CH" b="1" u="sng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fr-CH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2. Création des </a:t>
            </a:r>
            <a:r>
              <a:rPr lang="fr-CH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features</a:t>
            </a:r>
            <a:r>
              <a:rPr lang="fr-CH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avec CNN (VV16</a:t>
            </a:r>
            <a:r>
              <a:rPr lang="fr-CH" b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r>
              <a:rPr lang="fr-CH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</a:p>
          <a:p>
            <a:r>
              <a:rPr lang="fr-CH" b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Conclusion</a:t>
            </a:r>
          </a:p>
          <a:p>
            <a:r>
              <a:rPr lang="fr-CH" b="1" dirty="0">
                <a:solidFill>
                  <a:prstClr val="white">
                    <a:lumMod val="95000"/>
                  </a:prstClr>
                </a:solidFill>
              </a:rPr>
              <a:t>	</a:t>
            </a:r>
            <a:endParaRPr lang="en-GB" dirty="0">
              <a:solidFill>
                <a:prstClr val="white">
                  <a:lumMod val="9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1232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771083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utoShape 2" descr="Image en lig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H"/>
          </a:p>
        </p:txBody>
      </p:sp>
      <p:sp>
        <p:nvSpPr>
          <p:cNvPr id="6" name="AutoShape 4" descr="Image en lign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H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EDB67BFE-43CE-12D4-29DB-39EA0AB61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-27384"/>
            <a:ext cx="8229600" cy="764704"/>
          </a:xfrm>
        </p:spPr>
        <p:txBody>
          <a:bodyPr>
            <a:normAutofit/>
          </a:bodyPr>
          <a:lstStyle/>
          <a:p>
            <a:r>
              <a:rPr lang="fr-CH" sz="3200" b="1" dirty="0">
                <a:solidFill>
                  <a:schemeClr val="bg1">
                    <a:lumMod val="95000"/>
                  </a:schemeClr>
                </a:solidFill>
              </a:rPr>
              <a:t>II-1. Description</a:t>
            </a: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2713EFAE-43CC-FBE9-58EB-948AA2A8B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224" y="880120"/>
            <a:ext cx="8229600" cy="748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H" dirty="0">
                <a:solidFill>
                  <a:schemeClr val="bg1">
                    <a:lumMod val="95000"/>
                  </a:schemeClr>
                </a:solidFill>
              </a:rPr>
              <a:t>Longueur par document (ligne) </a:t>
            </a:r>
          </a:p>
        </p:txBody>
      </p:sp>
      <p:sp>
        <p:nvSpPr>
          <p:cNvPr id="4" name="Flèche droite 10">
            <a:extLst>
              <a:ext uri="{FF2B5EF4-FFF2-40B4-BE49-F238E27FC236}">
                <a16:creationId xmlns:a16="http://schemas.microsoft.com/office/drawing/2014/main" id="{5ED35C4E-8291-AABE-5886-0ECDF5F1476B}"/>
              </a:ext>
            </a:extLst>
          </p:cNvPr>
          <p:cNvSpPr/>
          <p:nvPr/>
        </p:nvSpPr>
        <p:spPr>
          <a:xfrm>
            <a:off x="107504" y="976164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0291DA2-B03D-4813-89BF-C715D9F6F9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288" t="16769" r="48425" b="44881"/>
          <a:stretch/>
        </p:blipFill>
        <p:spPr>
          <a:xfrm>
            <a:off x="-108520" y="1628800"/>
            <a:ext cx="4464496" cy="481846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01D69E7-E204-1AC6-31D9-3563D017020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288" t="26200" r="52362" b="23400"/>
          <a:stretch/>
        </p:blipFill>
        <p:spPr>
          <a:xfrm>
            <a:off x="3995936" y="1506782"/>
            <a:ext cx="5328592" cy="515039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67C561A-6E62-DFCC-5806-09D98A9A189D}"/>
              </a:ext>
            </a:extLst>
          </p:cNvPr>
          <p:cNvSpPr/>
          <p:nvPr/>
        </p:nvSpPr>
        <p:spPr>
          <a:xfrm>
            <a:off x="1" y="1628800"/>
            <a:ext cx="3995935" cy="481846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883286-AD8D-A182-E170-7B3E22DC1B0D}"/>
              </a:ext>
            </a:extLst>
          </p:cNvPr>
          <p:cNvSpPr/>
          <p:nvPr/>
        </p:nvSpPr>
        <p:spPr>
          <a:xfrm>
            <a:off x="4161453" y="1628800"/>
            <a:ext cx="4982547" cy="481846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4282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580323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467544" y="-27384"/>
            <a:ext cx="8229600" cy="648072"/>
          </a:xfrm>
        </p:spPr>
        <p:txBody>
          <a:bodyPr>
            <a:normAutofit/>
          </a:bodyPr>
          <a:lstStyle/>
          <a:p>
            <a:r>
              <a:rPr lang="fr-CH" sz="3200" b="1" dirty="0">
                <a:solidFill>
                  <a:schemeClr val="bg1">
                    <a:lumMod val="95000"/>
                  </a:schemeClr>
                </a:solidFill>
              </a:rPr>
              <a:t>II-</a:t>
            </a:r>
            <a:r>
              <a:rPr lang="fr-FR" sz="3200" b="1" dirty="0">
                <a:solidFill>
                  <a:schemeClr val="bg1">
                    <a:lumMod val="95000"/>
                  </a:schemeClr>
                </a:solidFill>
              </a:rPr>
              <a:t>2. Préparation des documents</a:t>
            </a:r>
            <a:endParaRPr lang="fr-CH" sz="3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Flèche droite 10">
            <a:extLst>
              <a:ext uri="{FF2B5EF4-FFF2-40B4-BE49-F238E27FC236}">
                <a16:creationId xmlns:a16="http://schemas.microsoft.com/office/drawing/2014/main" id="{3593DAD3-5560-C479-3972-FC97811BC0B5}"/>
              </a:ext>
            </a:extLst>
          </p:cNvPr>
          <p:cNvSpPr/>
          <p:nvPr/>
        </p:nvSpPr>
        <p:spPr>
          <a:xfrm rot="5400000">
            <a:off x="4330316" y="1758211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C47C3C04-230A-3BE4-2AEF-6FF9024FD0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387" t="34600" r="807" b="58284"/>
          <a:stretch/>
        </p:blipFill>
        <p:spPr>
          <a:xfrm>
            <a:off x="547288" y="673932"/>
            <a:ext cx="8302151" cy="92808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3FF060D-78F0-8832-12D6-360D9B7F8ADA}"/>
              </a:ext>
            </a:extLst>
          </p:cNvPr>
          <p:cNvSpPr/>
          <p:nvPr/>
        </p:nvSpPr>
        <p:spPr>
          <a:xfrm>
            <a:off x="566395" y="658325"/>
            <a:ext cx="8302151" cy="92808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44D061AE-2BE1-BF73-4DFB-5BFB5116407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3937" t="48904" r="3013" b="39956"/>
          <a:stretch/>
        </p:blipFill>
        <p:spPr>
          <a:xfrm>
            <a:off x="566395" y="2284138"/>
            <a:ext cx="8241939" cy="1215618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4A85585-7C38-43E1-7F3E-F2D18773F4B4}"/>
              </a:ext>
            </a:extLst>
          </p:cNvPr>
          <p:cNvSpPr/>
          <p:nvPr/>
        </p:nvSpPr>
        <p:spPr>
          <a:xfrm>
            <a:off x="556841" y="2337382"/>
            <a:ext cx="8309367" cy="95486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06BB42E-F661-C492-E0B8-B8AEE3387E3E}"/>
              </a:ext>
            </a:extLst>
          </p:cNvPr>
          <p:cNvSpPr/>
          <p:nvPr/>
        </p:nvSpPr>
        <p:spPr>
          <a:xfrm>
            <a:off x="37364" y="836712"/>
            <a:ext cx="5741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H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124</a:t>
            </a:r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D01BDA0F-2C96-8AA5-7261-08BF6C61D55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1233" t="61138" r="2933" b="29344"/>
          <a:stretch/>
        </p:blipFill>
        <p:spPr>
          <a:xfrm>
            <a:off x="534010" y="3884782"/>
            <a:ext cx="8318920" cy="1124703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89BCA327-FC3A-332C-A24D-2ED5B005555D}"/>
              </a:ext>
            </a:extLst>
          </p:cNvPr>
          <p:cNvSpPr/>
          <p:nvPr/>
        </p:nvSpPr>
        <p:spPr>
          <a:xfrm>
            <a:off x="539552" y="3984071"/>
            <a:ext cx="8309367" cy="102541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3" name="Image 42">
            <a:extLst>
              <a:ext uri="{FF2B5EF4-FFF2-40B4-BE49-F238E27FC236}">
                <a16:creationId xmlns:a16="http://schemas.microsoft.com/office/drawing/2014/main" id="{87A5425A-55E3-574D-1F5F-93AB1FDE901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2913" t="62600" r="2430" b="26200"/>
          <a:stretch/>
        </p:blipFill>
        <p:spPr>
          <a:xfrm>
            <a:off x="534010" y="5661248"/>
            <a:ext cx="8274324" cy="1276404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8B00AB5E-4142-52EF-51F9-1A739C54CD2E}"/>
              </a:ext>
            </a:extLst>
          </p:cNvPr>
          <p:cNvSpPr/>
          <p:nvPr/>
        </p:nvSpPr>
        <p:spPr>
          <a:xfrm>
            <a:off x="539552" y="5696215"/>
            <a:ext cx="8309367" cy="102541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Flèche droite 10">
            <a:extLst>
              <a:ext uri="{FF2B5EF4-FFF2-40B4-BE49-F238E27FC236}">
                <a16:creationId xmlns:a16="http://schemas.microsoft.com/office/drawing/2014/main" id="{0FD230B6-A381-A972-7E43-54DEA70D4A7A}"/>
              </a:ext>
            </a:extLst>
          </p:cNvPr>
          <p:cNvSpPr/>
          <p:nvPr/>
        </p:nvSpPr>
        <p:spPr>
          <a:xfrm rot="5400000">
            <a:off x="4330316" y="3414395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Flèche droite 10">
            <a:extLst>
              <a:ext uri="{FF2B5EF4-FFF2-40B4-BE49-F238E27FC236}">
                <a16:creationId xmlns:a16="http://schemas.microsoft.com/office/drawing/2014/main" id="{5FFD75A9-3450-C64E-D7B1-98F4B3C983FA}"/>
              </a:ext>
            </a:extLst>
          </p:cNvPr>
          <p:cNvSpPr/>
          <p:nvPr/>
        </p:nvSpPr>
        <p:spPr>
          <a:xfrm rot="5400000">
            <a:off x="4330316" y="5147112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ED77FD7-DAF9-6AF0-1A33-1D6D4C1D34F5}"/>
              </a:ext>
            </a:extLst>
          </p:cNvPr>
          <p:cNvSpPr/>
          <p:nvPr/>
        </p:nvSpPr>
        <p:spPr>
          <a:xfrm>
            <a:off x="611560" y="2380703"/>
            <a:ext cx="1074608" cy="175339"/>
          </a:xfrm>
          <a:prstGeom prst="rect">
            <a:avLst/>
          </a:prstGeom>
          <a:solidFill>
            <a:schemeClr val="accent1">
              <a:alpha val="52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93320B2-0B71-3CA4-4CB9-22BA7D5B9D11}"/>
              </a:ext>
            </a:extLst>
          </p:cNvPr>
          <p:cNvSpPr/>
          <p:nvPr/>
        </p:nvSpPr>
        <p:spPr>
          <a:xfrm>
            <a:off x="547288" y="4033336"/>
            <a:ext cx="1072384" cy="172368"/>
          </a:xfrm>
          <a:prstGeom prst="rect">
            <a:avLst/>
          </a:prstGeom>
          <a:solidFill>
            <a:schemeClr val="accent1">
              <a:alpha val="52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0C32EA3-1789-9D17-3466-F3E5A3570435}"/>
              </a:ext>
            </a:extLst>
          </p:cNvPr>
          <p:cNvSpPr/>
          <p:nvPr/>
        </p:nvSpPr>
        <p:spPr>
          <a:xfrm>
            <a:off x="566395" y="5782522"/>
            <a:ext cx="837253" cy="234006"/>
          </a:xfrm>
          <a:prstGeom prst="rect">
            <a:avLst/>
          </a:prstGeom>
          <a:solidFill>
            <a:schemeClr val="accent1">
              <a:alpha val="52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A44B6BA-775C-4C23-85C5-ECCC7C24946B}"/>
              </a:ext>
            </a:extLst>
          </p:cNvPr>
          <p:cNvSpPr/>
          <p:nvPr/>
        </p:nvSpPr>
        <p:spPr>
          <a:xfrm>
            <a:off x="2263885" y="3390091"/>
            <a:ext cx="694170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H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2. </a:t>
            </a:r>
            <a:r>
              <a:rPr lang="fr-CH" sz="2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Remove</a:t>
            </a:r>
            <a:r>
              <a:rPr lang="fr-CH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        Stop </a:t>
            </a:r>
            <a:r>
              <a:rPr lang="fr-CH" sz="2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Words</a:t>
            </a:r>
            <a:r>
              <a:rPr lang="fr-CH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 caractères spéciaux</a:t>
            </a:r>
          </a:p>
          <a:p>
            <a:endParaRPr lang="fr-CH" sz="24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330AD3A-7133-AB12-7A2F-32CC3FB22104}"/>
              </a:ext>
            </a:extLst>
          </p:cNvPr>
          <p:cNvSpPr/>
          <p:nvPr/>
        </p:nvSpPr>
        <p:spPr>
          <a:xfrm>
            <a:off x="2263885" y="1690747"/>
            <a:ext cx="21024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H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1. Tokenisation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6BA4233-FB09-5DBD-CEE7-7A09CE8C8CA5}"/>
              </a:ext>
            </a:extLst>
          </p:cNvPr>
          <p:cNvSpPr/>
          <p:nvPr/>
        </p:nvSpPr>
        <p:spPr>
          <a:xfrm>
            <a:off x="2263885" y="5085184"/>
            <a:ext cx="16604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H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3. </a:t>
            </a:r>
            <a:r>
              <a:rPr lang="fr-CH" sz="2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Stemmer</a:t>
            </a:r>
            <a:endParaRPr lang="fr-CH" sz="24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425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"/>
            <a:ext cx="9144000" cy="554678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35BB9DA8-31B4-F61B-9235-062CFABAB409}"/>
              </a:ext>
            </a:extLst>
          </p:cNvPr>
          <p:cNvSpPr txBox="1">
            <a:spLocks/>
          </p:cNvSpPr>
          <p:nvPr/>
        </p:nvSpPr>
        <p:spPr>
          <a:xfrm>
            <a:off x="467544" y="-171400"/>
            <a:ext cx="8229600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sz="3200" b="1" dirty="0">
                <a:solidFill>
                  <a:schemeClr val="bg1">
                    <a:lumMod val="95000"/>
                  </a:schemeClr>
                </a:solidFill>
              </a:rPr>
              <a:t>II-</a:t>
            </a:r>
            <a:r>
              <a:rPr lang="fr-FR" sz="3200" b="1" dirty="0">
                <a:solidFill>
                  <a:schemeClr val="bg1">
                    <a:lumMod val="95000"/>
                  </a:schemeClr>
                </a:solidFill>
              </a:rPr>
              <a:t>3. Analyse du corpus</a:t>
            </a:r>
            <a:endParaRPr lang="fr-CH" sz="3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2BF10229-BF81-4A49-7D34-772D296568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289" t="29470" r="16269" b="20602"/>
          <a:stretch/>
        </p:blipFill>
        <p:spPr>
          <a:xfrm>
            <a:off x="-108520" y="1124744"/>
            <a:ext cx="9252520" cy="4032448"/>
          </a:xfrm>
          <a:prstGeom prst="rect">
            <a:avLst/>
          </a:prstGeom>
        </p:spPr>
      </p:pic>
      <p:sp>
        <p:nvSpPr>
          <p:cNvPr id="27" name="Espace réservé du contenu 2">
            <a:extLst>
              <a:ext uri="{FF2B5EF4-FFF2-40B4-BE49-F238E27FC236}">
                <a16:creationId xmlns:a16="http://schemas.microsoft.com/office/drawing/2014/main" id="{D6081A5E-5ADA-467D-6AE6-1FF81F993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224" y="532437"/>
            <a:ext cx="8229600" cy="748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H" dirty="0">
                <a:solidFill>
                  <a:schemeClr val="bg1">
                    <a:lumMod val="95000"/>
                  </a:schemeClr>
                </a:solidFill>
              </a:rPr>
              <a:t>50 mots les plus fréquents du corpus</a:t>
            </a:r>
          </a:p>
        </p:txBody>
      </p:sp>
      <p:sp>
        <p:nvSpPr>
          <p:cNvPr id="28" name="Flèche droite 10">
            <a:extLst>
              <a:ext uri="{FF2B5EF4-FFF2-40B4-BE49-F238E27FC236}">
                <a16:creationId xmlns:a16="http://schemas.microsoft.com/office/drawing/2014/main" id="{3B776A98-588C-5FE0-1261-440C2310138D}"/>
              </a:ext>
            </a:extLst>
          </p:cNvPr>
          <p:cNvSpPr/>
          <p:nvPr/>
        </p:nvSpPr>
        <p:spPr>
          <a:xfrm>
            <a:off x="107504" y="628481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C2FA0F6-0606-11CA-BFE1-9C54DEE13D8A}"/>
              </a:ext>
            </a:extLst>
          </p:cNvPr>
          <p:cNvSpPr/>
          <p:nvPr/>
        </p:nvSpPr>
        <p:spPr>
          <a:xfrm>
            <a:off x="755576" y="4437112"/>
            <a:ext cx="1368152" cy="5846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33" name="Flèche droite 12">
            <a:extLst>
              <a:ext uri="{FF2B5EF4-FFF2-40B4-BE49-F238E27FC236}">
                <a16:creationId xmlns:a16="http://schemas.microsoft.com/office/drawing/2014/main" id="{5D5EEAAD-02B3-FAA9-0132-3ABDAF2B1608}"/>
              </a:ext>
            </a:extLst>
          </p:cNvPr>
          <p:cNvSpPr/>
          <p:nvPr/>
        </p:nvSpPr>
        <p:spPr>
          <a:xfrm rot="5400000">
            <a:off x="4265712" y="5203356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A41F1D7D-16EE-7875-70D5-09F7CBF6667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1338" t="40200" r="1963" b="48600"/>
          <a:stretch/>
        </p:blipFill>
        <p:spPr>
          <a:xfrm>
            <a:off x="0" y="5733256"/>
            <a:ext cx="9144000" cy="1287524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D44020B0-14AF-2557-0B38-B52F5CF03BDE}"/>
              </a:ext>
            </a:extLst>
          </p:cNvPr>
          <p:cNvSpPr/>
          <p:nvPr/>
        </p:nvSpPr>
        <p:spPr>
          <a:xfrm>
            <a:off x="35496" y="5742369"/>
            <a:ext cx="9100768" cy="105376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825F0F2-DB1E-99B6-F283-9C1BCD0DE52D}"/>
              </a:ext>
            </a:extLst>
          </p:cNvPr>
          <p:cNvSpPr/>
          <p:nvPr/>
        </p:nvSpPr>
        <p:spPr>
          <a:xfrm>
            <a:off x="35496" y="5750989"/>
            <a:ext cx="936104" cy="333687"/>
          </a:xfrm>
          <a:prstGeom prst="rect">
            <a:avLst/>
          </a:prstGeom>
          <a:solidFill>
            <a:schemeClr val="accent1">
              <a:alpha val="52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1440782-24E2-1005-020A-6CEF5F75100B}"/>
              </a:ext>
            </a:extLst>
          </p:cNvPr>
          <p:cNvSpPr/>
          <p:nvPr/>
        </p:nvSpPr>
        <p:spPr>
          <a:xfrm>
            <a:off x="35496" y="5204831"/>
            <a:ext cx="6556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H" sz="2400" b="1" dirty="0">
                <a:solidFill>
                  <a:schemeClr val="accent1"/>
                </a:solidFill>
              </a:rPr>
              <a:t>Enlever les mots peu informatifs          ET UNIQUES</a:t>
            </a:r>
          </a:p>
        </p:txBody>
      </p:sp>
    </p:spTree>
    <p:extLst>
      <p:ext uri="{BB962C8B-B14F-4D97-AF65-F5344CB8AC3E}">
        <p14:creationId xmlns:p14="http://schemas.microsoft.com/office/powerpoint/2010/main" val="2604105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771083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35BB9DA8-31B4-F61B-9235-062CFABAB409}"/>
              </a:ext>
            </a:extLst>
          </p:cNvPr>
          <p:cNvSpPr txBox="1">
            <a:spLocks/>
          </p:cNvSpPr>
          <p:nvPr/>
        </p:nvSpPr>
        <p:spPr>
          <a:xfrm>
            <a:off x="467544" y="-27384"/>
            <a:ext cx="8229600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sz="3200" b="1" dirty="0">
                <a:solidFill>
                  <a:schemeClr val="bg1">
                    <a:lumMod val="95000"/>
                  </a:schemeClr>
                </a:solidFill>
              </a:rPr>
              <a:t>II-</a:t>
            </a:r>
            <a:r>
              <a:rPr lang="fr-FR" sz="3200" b="1" dirty="0">
                <a:solidFill>
                  <a:schemeClr val="bg1">
                    <a:lumMod val="95000"/>
                  </a:schemeClr>
                </a:solidFill>
              </a:rPr>
              <a:t>3. Analyse du corpus par catégorie</a:t>
            </a:r>
            <a:endParaRPr lang="fr-CH" sz="3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55216B33-5E60-F168-9A2E-382F8CE4DE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106" t="12600" r="48813" b="58844"/>
          <a:stretch/>
        </p:blipFill>
        <p:spPr>
          <a:xfrm>
            <a:off x="4549163" y="1251261"/>
            <a:ext cx="3104957" cy="1726783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4627029E-0089-B1DF-1985-C0AC50FDF25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087" t="51400" r="51575" b="19201"/>
          <a:stretch/>
        </p:blipFill>
        <p:spPr>
          <a:xfrm>
            <a:off x="3108462" y="2924944"/>
            <a:ext cx="2975706" cy="1736509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B2F3B2AD-1FE4-13B8-56A2-C56ACD61145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9881" t="14584" r="51769" b="55607"/>
          <a:stretch/>
        </p:blipFill>
        <p:spPr>
          <a:xfrm>
            <a:off x="4572000" y="4668370"/>
            <a:ext cx="2976872" cy="1760677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2E5B9DA1-4D97-CB7E-AA5C-F4D8F2F2022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087" t="31800" r="51575" b="38274"/>
          <a:stretch/>
        </p:blipFill>
        <p:spPr>
          <a:xfrm>
            <a:off x="1590497" y="1173424"/>
            <a:ext cx="2975706" cy="1767596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11435A95-1E1E-1ADA-9DA8-76AE80C7CDA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087" t="62074" r="50000" b="8001"/>
          <a:stretch/>
        </p:blipFill>
        <p:spPr>
          <a:xfrm>
            <a:off x="1565754" y="4685739"/>
            <a:ext cx="2989293" cy="1767597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94EF4ED5-9DD2-3D0F-A838-452717353C3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087" t="22001" r="51575" b="47884"/>
          <a:stretch/>
        </p:blipFill>
        <p:spPr>
          <a:xfrm>
            <a:off x="45840" y="2930263"/>
            <a:ext cx="2975705" cy="1778815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A723CAF7-DEC6-9BDD-B502-F401134DAF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106" t="40600" r="51475" b="30001"/>
          <a:stretch/>
        </p:blipFill>
        <p:spPr>
          <a:xfrm>
            <a:off x="6008819" y="2917102"/>
            <a:ext cx="3104957" cy="173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051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771083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35BB9DA8-31B4-F61B-9235-062CFABAB409}"/>
              </a:ext>
            </a:extLst>
          </p:cNvPr>
          <p:cNvSpPr txBox="1">
            <a:spLocks/>
          </p:cNvSpPr>
          <p:nvPr/>
        </p:nvSpPr>
        <p:spPr>
          <a:xfrm>
            <a:off x="467544" y="-27384"/>
            <a:ext cx="8229600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sz="3200" b="1" dirty="0">
                <a:solidFill>
                  <a:schemeClr val="bg1">
                    <a:lumMod val="95000"/>
                  </a:schemeClr>
                </a:solidFill>
              </a:rPr>
              <a:t>II-4. </a:t>
            </a:r>
            <a:r>
              <a:rPr lang="fr-FR" sz="3200" b="1" dirty="0">
                <a:solidFill>
                  <a:schemeClr val="bg1">
                    <a:lumMod val="95000"/>
                  </a:schemeClr>
                </a:solidFill>
              </a:rPr>
              <a:t>Comparaison des méthodes </a:t>
            </a:r>
            <a:r>
              <a:rPr lang="fr-FR" sz="3200" b="1" dirty="0" err="1">
                <a:solidFill>
                  <a:schemeClr val="bg1">
                    <a:lumMod val="95000"/>
                  </a:schemeClr>
                </a:solidFill>
              </a:rPr>
              <a:t>embedding</a:t>
            </a:r>
            <a:r>
              <a:rPr lang="fr-FR" sz="32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endParaRPr lang="fr-CH" sz="3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64F266EC-20BD-B0B3-EB40-6A3BA7BAD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224" y="764704"/>
            <a:ext cx="8229600" cy="748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H" dirty="0">
                <a:solidFill>
                  <a:schemeClr val="bg1">
                    <a:lumMod val="95000"/>
                  </a:schemeClr>
                </a:solidFill>
              </a:rPr>
              <a:t>Count </a:t>
            </a:r>
            <a:r>
              <a:rPr lang="fr-CH" dirty="0" err="1">
                <a:solidFill>
                  <a:schemeClr val="bg1">
                    <a:lumMod val="95000"/>
                  </a:schemeClr>
                </a:solidFill>
              </a:rPr>
              <a:t>Vectorizer</a:t>
            </a:r>
            <a:endParaRPr lang="fr-CH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Flèche droite 10">
            <a:extLst>
              <a:ext uri="{FF2B5EF4-FFF2-40B4-BE49-F238E27FC236}">
                <a16:creationId xmlns:a16="http://schemas.microsoft.com/office/drawing/2014/main" id="{2FBB122A-CA54-A9C1-4212-09E93C849F74}"/>
              </a:ext>
            </a:extLst>
          </p:cNvPr>
          <p:cNvSpPr/>
          <p:nvPr/>
        </p:nvSpPr>
        <p:spPr>
          <a:xfrm>
            <a:off x="107504" y="860748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5752977-E3E7-CDC2-25C4-0A686196C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075" t="23230" r="48601" b="31800"/>
          <a:stretch/>
        </p:blipFill>
        <p:spPr>
          <a:xfrm>
            <a:off x="4427984" y="839890"/>
            <a:ext cx="3672408" cy="273312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0022534-233F-6340-7712-5628050022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856" t="21363" r="30464" b="63999"/>
          <a:stretch/>
        </p:blipFill>
        <p:spPr>
          <a:xfrm>
            <a:off x="728734" y="1359202"/>
            <a:ext cx="3618585" cy="217830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0E4B21D-80D6-284F-406F-7375F323A95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075" t="31800" r="49181" b="20600"/>
          <a:stretch/>
        </p:blipFill>
        <p:spPr>
          <a:xfrm>
            <a:off x="728735" y="3608451"/>
            <a:ext cx="3627241" cy="3158880"/>
          </a:xfrm>
          <a:prstGeom prst="rect">
            <a:avLst/>
          </a:prstGeom>
        </p:spPr>
      </p:pic>
      <p:grpSp>
        <p:nvGrpSpPr>
          <p:cNvPr id="15" name="Groupe 14">
            <a:extLst>
              <a:ext uri="{FF2B5EF4-FFF2-40B4-BE49-F238E27FC236}">
                <a16:creationId xmlns:a16="http://schemas.microsoft.com/office/drawing/2014/main" id="{4DB8DF0F-36DC-4F9C-E51B-DB82DD331E05}"/>
              </a:ext>
            </a:extLst>
          </p:cNvPr>
          <p:cNvGrpSpPr/>
          <p:nvPr/>
        </p:nvGrpSpPr>
        <p:grpSpPr>
          <a:xfrm>
            <a:off x="4427984" y="3600400"/>
            <a:ext cx="4840558" cy="3166931"/>
            <a:chOff x="4427984" y="3600400"/>
            <a:chExt cx="4840558" cy="3166931"/>
          </a:xfrm>
        </p:grpSpPr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726893F7-209D-8F14-0C38-ECE4C7C407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3099" t="31879" r="15775" b="20400"/>
            <a:stretch/>
          </p:blipFill>
          <p:spPr>
            <a:xfrm>
              <a:off x="4427984" y="3600400"/>
              <a:ext cx="3672408" cy="3166931"/>
            </a:xfrm>
            <a:prstGeom prst="rect">
              <a:avLst/>
            </a:prstGeom>
          </p:spPr>
        </p:pic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4762BF88-B151-EFD5-E40F-28A9AFAFB56E}"/>
                </a:ext>
              </a:extLst>
            </p:cNvPr>
            <p:cNvSpPr txBox="1"/>
            <p:nvPr/>
          </p:nvSpPr>
          <p:spPr>
            <a:xfrm>
              <a:off x="8090181" y="4445201"/>
              <a:ext cx="1178361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i="0" dirty="0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Réel</a:t>
              </a:r>
            </a:p>
            <a:p>
              <a:pPr algn="ctr"/>
              <a:r>
                <a:rPr lang="fr-FR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vs</a:t>
              </a:r>
              <a:endParaRPr lang="fr-FR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fr-FR" b="1" i="0" dirty="0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7 </a:t>
              </a:r>
              <a:r>
                <a:rPr lang="fr-FR" b="1" i="0" dirty="0" err="1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Kmean</a:t>
              </a:r>
              <a:r>
                <a:rPr lang="fr-FR" b="1" i="0" dirty="0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:</a:t>
              </a:r>
            </a:p>
            <a:p>
              <a:pPr algn="ctr"/>
              <a:r>
                <a:rPr lang="fr-FR" b="1" i="0" dirty="0">
                  <a:solidFill>
                    <a:schemeClr val="accent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ARI  </a:t>
              </a:r>
            </a:p>
            <a:p>
              <a:pPr algn="ctr"/>
              <a:r>
                <a:rPr lang="fr-FR" b="1" i="0" dirty="0">
                  <a:solidFill>
                    <a:schemeClr val="accent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0.3329</a:t>
              </a:r>
              <a:endParaRPr lang="fr-FR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A116668-D6CD-7A80-0AF0-11641EB8D641}"/>
                </a:ext>
              </a:extLst>
            </p:cNvPr>
            <p:cNvSpPr/>
            <p:nvPr/>
          </p:nvSpPr>
          <p:spPr>
            <a:xfrm>
              <a:off x="8172400" y="4411437"/>
              <a:ext cx="945367" cy="1511091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6715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-27384"/>
            <a:ext cx="9144000" cy="771083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35BB9DA8-31B4-F61B-9235-062CFABAB409}"/>
              </a:ext>
            </a:extLst>
          </p:cNvPr>
          <p:cNvSpPr txBox="1">
            <a:spLocks/>
          </p:cNvSpPr>
          <p:nvPr/>
        </p:nvSpPr>
        <p:spPr>
          <a:xfrm>
            <a:off x="467544" y="-27384"/>
            <a:ext cx="8229600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sz="3200" b="1" dirty="0">
                <a:solidFill>
                  <a:schemeClr val="bg1">
                    <a:lumMod val="95000"/>
                  </a:schemeClr>
                </a:solidFill>
              </a:rPr>
              <a:t>II-4. </a:t>
            </a:r>
            <a:r>
              <a:rPr lang="fr-FR" sz="3200" b="1" dirty="0">
                <a:solidFill>
                  <a:schemeClr val="bg1">
                    <a:lumMod val="95000"/>
                  </a:schemeClr>
                </a:solidFill>
              </a:rPr>
              <a:t>Comparaison des méthodes </a:t>
            </a:r>
            <a:r>
              <a:rPr lang="fr-FR" sz="3200" b="1" dirty="0" err="1">
                <a:solidFill>
                  <a:schemeClr val="bg1">
                    <a:lumMod val="95000"/>
                  </a:schemeClr>
                </a:solidFill>
              </a:rPr>
              <a:t>embedding</a:t>
            </a:r>
            <a:r>
              <a:rPr lang="fr-FR" sz="32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endParaRPr lang="fr-CH" sz="3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Flèche droite 10">
            <a:extLst>
              <a:ext uri="{FF2B5EF4-FFF2-40B4-BE49-F238E27FC236}">
                <a16:creationId xmlns:a16="http://schemas.microsoft.com/office/drawing/2014/main" id="{0CD29927-92A0-FF2E-5313-51265B75E32A}"/>
              </a:ext>
            </a:extLst>
          </p:cNvPr>
          <p:cNvSpPr/>
          <p:nvPr/>
        </p:nvSpPr>
        <p:spPr>
          <a:xfrm>
            <a:off x="107504" y="860748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Espace réservé du contenu 2">
            <a:extLst>
              <a:ext uri="{FF2B5EF4-FFF2-40B4-BE49-F238E27FC236}">
                <a16:creationId xmlns:a16="http://schemas.microsoft.com/office/drawing/2014/main" id="{FB002AF9-F6AD-E92F-7676-E3BE0A8FF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224" y="764704"/>
            <a:ext cx="1503512" cy="748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H" dirty="0">
                <a:solidFill>
                  <a:schemeClr val="bg1">
                    <a:lumMod val="95000"/>
                  </a:schemeClr>
                </a:solidFill>
              </a:rPr>
              <a:t>TF-IDF</a:t>
            </a:r>
          </a:p>
        </p:txBody>
      </p:sp>
      <p:sp>
        <p:nvSpPr>
          <p:cNvPr id="25" name="Flèche droite 10">
            <a:extLst>
              <a:ext uri="{FF2B5EF4-FFF2-40B4-BE49-F238E27FC236}">
                <a16:creationId xmlns:a16="http://schemas.microsoft.com/office/drawing/2014/main" id="{F258851B-CF90-00CE-180C-4CACB9B04903}"/>
              </a:ext>
            </a:extLst>
          </p:cNvPr>
          <p:cNvSpPr/>
          <p:nvPr/>
        </p:nvSpPr>
        <p:spPr>
          <a:xfrm>
            <a:off x="107504" y="860748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18580478-4381-1298-0F63-C04816E424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856" t="21363" r="30464" b="63999"/>
          <a:stretch/>
        </p:blipFill>
        <p:spPr>
          <a:xfrm>
            <a:off x="728734" y="1359202"/>
            <a:ext cx="3618585" cy="2178304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15659973-493A-C4F0-C1AE-9F7821E6C8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933" t="38708" r="47508" b="10894"/>
          <a:stretch/>
        </p:blipFill>
        <p:spPr>
          <a:xfrm>
            <a:off x="737050" y="3605162"/>
            <a:ext cx="3618584" cy="3150797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FF852F95-2367-F576-BBBB-8ABC3DDE41D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075" t="36000" r="48196" b="20600"/>
          <a:stretch/>
        </p:blipFill>
        <p:spPr>
          <a:xfrm>
            <a:off x="4427985" y="827232"/>
            <a:ext cx="3672408" cy="2725042"/>
          </a:xfrm>
          <a:prstGeom prst="rect">
            <a:avLst/>
          </a:prstGeom>
        </p:spPr>
      </p:pic>
      <p:grpSp>
        <p:nvGrpSpPr>
          <p:cNvPr id="41" name="Groupe 40">
            <a:extLst>
              <a:ext uri="{FF2B5EF4-FFF2-40B4-BE49-F238E27FC236}">
                <a16:creationId xmlns:a16="http://schemas.microsoft.com/office/drawing/2014/main" id="{962C16BA-DC77-2D24-E57C-4DC6467CB71D}"/>
              </a:ext>
            </a:extLst>
          </p:cNvPr>
          <p:cNvGrpSpPr/>
          <p:nvPr/>
        </p:nvGrpSpPr>
        <p:grpSpPr>
          <a:xfrm>
            <a:off x="4427985" y="3605162"/>
            <a:ext cx="4840557" cy="3150797"/>
            <a:chOff x="4427985" y="3605162"/>
            <a:chExt cx="4840557" cy="3150797"/>
          </a:xfrm>
        </p:grpSpPr>
        <p:pic>
          <p:nvPicPr>
            <p:cNvPr id="42" name="Image 41">
              <a:extLst>
                <a:ext uri="{FF2B5EF4-FFF2-40B4-BE49-F238E27FC236}">
                  <a16:creationId xmlns:a16="http://schemas.microsoft.com/office/drawing/2014/main" id="{0CEDA7E7-4AD4-1499-9912-CDA90942D1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3044" t="38708" r="15360" b="10894"/>
            <a:stretch/>
          </p:blipFill>
          <p:spPr>
            <a:xfrm>
              <a:off x="4427985" y="3605162"/>
              <a:ext cx="3662196" cy="3150797"/>
            </a:xfrm>
            <a:prstGeom prst="rect">
              <a:avLst/>
            </a:prstGeom>
          </p:spPr>
        </p:pic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9F35C990-48AA-689E-2FD7-6E41B725957C}"/>
                </a:ext>
              </a:extLst>
            </p:cNvPr>
            <p:cNvSpPr txBox="1"/>
            <p:nvPr/>
          </p:nvSpPr>
          <p:spPr>
            <a:xfrm>
              <a:off x="8090181" y="4445201"/>
              <a:ext cx="1178361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i="0" dirty="0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Réel</a:t>
              </a:r>
            </a:p>
            <a:p>
              <a:pPr algn="ctr"/>
              <a:r>
                <a:rPr lang="fr-FR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vs</a:t>
              </a:r>
              <a:endParaRPr lang="fr-FR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fr-FR" b="1" i="0" dirty="0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7 </a:t>
              </a:r>
              <a:r>
                <a:rPr lang="fr-FR" b="1" i="0" dirty="0" err="1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Kmean</a:t>
              </a:r>
              <a:r>
                <a:rPr lang="fr-FR" b="1" i="0" dirty="0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:</a:t>
              </a:r>
            </a:p>
            <a:p>
              <a:pPr algn="ctr"/>
              <a:r>
                <a:rPr lang="fr-FR" b="1" i="0" dirty="0">
                  <a:solidFill>
                    <a:schemeClr val="accent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ARI  </a:t>
              </a:r>
            </a:p>
            <a:p>
              <a:pPr algn="ctr"/>
              <a:r>
                <a:rPr lang="fr-FR" b="1" i="0" dirty="0">
                  <a:solidFill>
                    <a:schemeClr val="accent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0.24</a:t>
              </a:r>
              <a:endParaRPr lang="fr-FR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563BDB1-27B6-5455-D6EB-32EF3A36AA96}"/>
                </a:ext>
              </a:extLst>
            </p:cNvPr>
            <p:cNvSpPr/>
            <p:nvPr/>
          </p:nvSpPr>
          <p:spPr>
            <a:xfrm>
              <a:off x="8172400" y="4411437"/>
              <a:ext cx="945367" cy="1511091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955919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771083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35BB9DA8-31B4-F61B-9235-062CFABAB409}"/>
              </a:ext>
            </a:extLst>
          </p:cNvPr>
          <p:cNvSpPr txBox="1">
            <a:spLocks/>
          </p:cNvSpPr>
          <p:nvPr/>
        </p:nvSpPr>
        <p:spPr>
          <a:xfrm>
            <a:off x="467544" y="-27384"/>
            <a:ext cx="8229600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sz="3200" b="1" dirty="0">
                <a:solidFill>
                  <a:schemeClr val="bg1">
                    <a:lumMod val="95000"/>
                  </a:schemeClr>
                </a:solidFill>
              </a:rPr>
              <a:t>II-4. </a:t>
            </a:r>
            <a:r>
              <a:rPr lang="fr-FR" sz="3200" b="1" dirty="0">
                <a:solidFill>
                  <a:schemeClr val="bg1">
                    <a:lumMod val="95000"/>
                  </a:schemeClr>
                </a:solidFill>
              </a:rPr>
              <a:t>Comparaison des méthodes </a:t>
            </a:r>
            <a:r>
              <a:rPr lang="fr-FR" sz="3200" b="1" dirty="0" err="1">
                <a:solidFill>
                  <a:schemeClr val="bg1">
                    <a:lumMod val="95000"/>
                  </a:schemeClr>
                </a:solidFill>
              </a:rPr>
              <a:t>embedding</a:t>
            </a:r>
            <a:r>
              <a:rPr lang="fr-FR" sz="32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endParaRPr lang="fr-CH" sz="3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Flèche droite 10">
            <a:extLst>
              <a:ext uri="{FF2B5EF4-FFF2-40B4-BE49-F238E27FC236}">
                <a16:creationId xmlns:a16="http://schemas.microsoft.com/office/drawing/2014/main" id="{CCC04920-8304-76DA-6FE2-2A0E589A612F}"/>
              </a:ext>
            </a:extLst>
          </p:cNvPr>
          <p:cNvSpPr/>
          <p:nvPr/>
        </p:nvSpPr>
        <p:spPr>
          <a:xfrm>
            <a:off x="107504" y="860748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1C3C066-5137-799A-C92D-F636F6BDF0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856" t="21363" r="30464" b="63999"/>
          <a:stretch/>
        </p:blipFill>
        <p:spPr>
          <a:xfrm>
            <a:off x="728734" y="1359202"/>
            <a:ext cx="3618585" cy="2178304"/>
          </a:xfrm>
          <a:prstGeom prst="rect">
            <a:avLst/>
          </a:prstGeom>
        </p:spPr>
      </p:pic>
      <p:grpSp>
        <p:nvGrpSpPr>
          <p:cNvPr id="12" name="Groupe 11">
            <a:extLst>
              <a:ext uri="{FF2B5EF4-FFF2-40B4-BE49-F238E27FC236}">
                <a16:creationId xmlns:a16="http://schemas.microsoft.com/office/drawing/2014/main" id="{DD019DF7-59A3-9BED-4055-5A9993F2576D}"/>
              </a:ext>
            </a:extLst>
          </p:cNvPr>
          <p:cNvGrpSpPr/>
          <p:nvPr/>
        </p:nvGrpSpPr>
        <p:grpSpPr>
          <a:xfrm>
            <a:off x="8090181" y="4411437"/>
            <a:ext cx="1178361" cy="1511092"/>
            <a:chOff x="8090181" y="4411437"/>
            <a:chExt cx="1178361" cy="1511092"/>
          </a:xfrm>
        </p:grpSpPr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1FCDABBD-A6B5-6C19-F285-50A479506B5E}"/>
                </a:ext>
              </a:extLst>
            </p:cNvPr>
            <p:cNvSpPr txBox="1"/>
            <p:nvPr/>
          </p:nvSpPr>
          <p:spPr>
            <a:xfrm>
              <a:off x="8090181" y="4445201"/>
              <a:ext cx="1178361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i="0" dirty="0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Réel</a:t>
              </a:r>
            </a:p>
            <a:p>
              <a:pPr algn="ctr"/>
              <a:r>
                <a:rPr lang="fr-FR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vs</a:t>
              </a:r>
              <a:endParaRPr lang="fr-FR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fr-FR" b="1" i="0" dirty="0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7 </a:t>
              </a:r>
              <a:r>
                <a:rPr lang="fr-FR" b="1" i="0" dirty="0" err="1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Kmean</a:t>
              </a:r>
              <a:r>
                <a:rPr lang="fr-FR" b="1" i="0" dirty="0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:</a:t>
              </a:r>
            </a:p>
            <a:p>
              <a:pPr algn="ctr"/>
              <a:r>
                <a:rPr lang="fr-FR" b="1" i="0" dirty="0">
                  <a:solidFill>
                    <a:schemeClr val="accent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ARI  </a:t>
              </a:r>
            </a:p>
            <a:p>
              <a:pPr algn="ctr"/>
              <a:r>
                <a:rPr lang="fr-FR" b="1" i="0" dirty="0">
                  <a:solidFill>
                    <a:schemeClr val="accent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0.4751</a:t>
              </a:r>
              <a:endParaRPr lang="fr-FR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9C5588D-BF8A-D668-B37D-F207CD783CF9}"/>
                </a:ext>
              </a:extLst>
            </p:cNvPr>
            <p:cNvSpPr/>
            <p:nvPr/>
          </p:nvSpPr>
          <p:spPr>
            <a:xfrm>
              <a:off x="8172400" y="4411437"/>
              <a:ext cx="945367" cy="1511091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69302881-3474-2112-41B0-A15BB8E9F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224" y="764704"/>
            <a:ext cx="8229600" cy="748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H" dirty="0">
                <a:solidFill>
                  <a:schemeClr val="bg1">
                    <a:lumMod val="95000"/>
                  </a:schemeClr>
                </a:solidFill>
              </a:rPr>
              <a:t>Word 2 VEC</a:t>
            </a:r>
          </a:p>
        </p:txBody>
      </p:sp>
      <p:sp>
        <p:nvSpPr>
          <p:cNvPr id="20" name="Flèche droite 10">
            <a:extLst>
              <a:ext uri="{FF2B5EF4-FFF2-40B4-BE49-F238E27FC236}">
                <a16:creationId xmlns:a16="http://schemas.microsoft.com/office/drawing/2014/main" id="{914408B5-13BC-0C0D-9628-DF6D12D95AC1}"/>
              </a:ext>
            </a:extLst>
          </p:cNvPr>
          <p:cNvSpPr/>
          <p:nvPr/>
        </p:nvSpPr>
        <p:spPr>
          <a:xfrm>
            <a:off x="107504" y="860748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E6C0F3CF-9BF2-A1CB-3B89-5481775D737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868" t="42846" r="48632" b="12478"/>
          <a:stretch/>
        </p:blipFill>
        <p:spPr>
          <a:xfrm>
            <a:off x="4416891" y="842288"/>
            <a:ext cx="3666187" cy="2695217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5DC7D6BB-2C6D-4246-C1A4-C1E3C85779B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076" t="33201" r="48539" b="17800"/>
          <a:stretch/>
        </p:blipFill>
        <p:spPr>
          <a:xfrm>
            <a:off x="728734" y="3608449"/>
            <a:ext cx="3618585" cy="3177803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49259068-A436-8384-06F1-2117502AE76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2476" t="33201" r="15759" b="17800"/>
          <a:stretch/>
        </p:blipFill>
        <p:spPr>
          <a:xfrm>
            <a:off x="4427984" y="3608190"/>
            <a:ext cx="3662197" cy="317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77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771083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35BB9DA8-31B4-F61B-9235-062CFABAB409}"/>
              </a:ext>
            </a:extLst>
          </p:cNvPr>
          <p:cNvSpPr txBox="1">
            <a:spLocks/>
          </p:cNvSpPr>
          <p:nvPr/>
        </p:nvSpPr>
        <p:spPr>
          <a:xfrm>
            <a:off x="467544" y="-27384"/>
            <a:ext cx="8229600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sz="3200" b="1" dirty="0">
                <a:solidFill>
                  <a:schemeClr val="bg1">
                    <a:lumMod val="95000"/>
                  </a:schemeClr>
                </a:solidFill>
              </a:rPr>
              <a:t>II-4. </a:t>
            </a:r>
            <a:r>
              <a:rPr lang="fr-FR" sz="3200" b="1" dirty="0">
                <a:solidFill>
                  <a:schemeClr val="bg1">
                    <a:lumMod val="95000"/>
                  </a:schemeClr>
                </a:solidFill>
              </a:rPr>
              <a:t>Comparaison des méthodes </a:t>
            </a:r>
            <a:r>
              <a:rPr lang="fr-FR" sz="3200" b="1" dirty="0" err="1">
                <a:solidFill>
                  <a:schemeClr val="bg1">
                    <a:lumMod val="95000"/>
                  </a:schemeClr>
                </a:solidFill>
              </a:rPr>
              <a:t>embedding</a:t>
            </a:r>
            <a:r>
              <a:rPr lang="fr-FR" sz="32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endParaRPr lang="fr-CH" sz="3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Flèche droite 10">
            <a:extLst>
              <a:ext uri="{FF2B5EF4-FFF2-40B4-BE49-F238E27FC236}">
                <a16:creationId xmlns:a16="http://schemas.microsoft.com/office/drawing/2014/main" id="{CCC04920-8304-76DA-6FE2-2A0E589A612F}"/>
              </a:ext>
            </a:extLst>
          </p:cNvPr>
          <p:cNvSpPr/>
          <p:nvPr/>
        </p:nvSpPr>
        <p:spPr>
          <a:xfrm>
            <a:off x="107504" y="860748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1C3C066-5137-799A-C92D-F636F6BDF0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856" t="21363" r="30464" b="63999"/>
          <a:stretch/>
        </p:blipFill>
        <p:spPr>
          <a:xfrm>
            <a:off x="728734" y="1359202"/>
            <a:ext cx="3618585" cy="2178304"/>
          </a:xfrm>
          <a:prstGeom prst="rect">
            <a:avLst/>
          </a:prstGeom>
        </p:spPr>
      </p:pic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69302881-3474-2112-41B0-A15BB8E9F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224" y="764704"/>
            <a:ext cx="8229600" cy="748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H" dirty="0">
                <a:solidFill>
                  <a:schemeClr val="bg1">
                    <a:lumMod val="95000"/>
                  </a:schemeClr>
                </a:solidFill>
              </a:rPr>
              <a:t>BERT – base/hub</a:t>
            </a:r>
          </a:p>
        </p:txBody>
      </p:sp>
      <p:sp>
        <p:nvSpPr>
          <p:cNvPr id="20" name="Flèche droite 10">
            <a:extLst>
              <a:ext uri="{FF2B5EF4-FFF2-40B4-BE49-F238E27FC236}">
                <a16:creationId xmlns:a16="http://schemas.microsoft.com/office/drawing/2014/main" id="{914408B5-13BC-0C0D-9628-DF6D12D95AC1}"/>
              </a:ext>
            </a:extLst>
          </p:cNvPr>
          <p:cNvSpPr/>
          <p:nvPr/>
        </p:nvSpPr>
        <p:spPr>
          <a:xfrm>
            <a:off x="107504" y="860748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3259A50-D4A9-41F2-AA05-CD9D8F9D229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075" t="29000" r="49213" b="26200"/>
          <a:stretch/>
        </p:blipFill>
        <p:spPr>
          <a:xfrm>
            <a:off x="4427983" y="842086"/>
            <a:ext cx="3662196" cy="2695218"/>
          </a:xfrm>
          <a:prstGeom prst="rect">
            <a:avLst/>
          </a:prstGeom>
        </p:spPr>
      </p:pic>
      <p:grpSp>
        <p:nvGrpSpPr>
          <p:cNvPr id="18" name="Groupe 17">
            <a:extLst>
              <a:ext uri="{FF2B5EF4-FFF2-40B4-BE49-F238E27FC236}">
                <a16:creationId xmlns:a16="http://schemas.microsoft.com/office/drawing/2014/main" id="{CE4CF564-64DD-0ECE-4FDD-EB0BBA637FEA}"/>
              </a:ext>
            </a:extLst>
          </p:cNvPr>
          <p:cNvGrpSpPr/>
          <p:nvPr/>
        </p:nvGrpSpPr>
        <p:grpSpPr>
          <a:xfrm>
            <a:off x="8090181" y="4448761"/>
            <a:ext cx="1178361" cy="1511092"/>
            <a:chOff x="8090181" y="4411437"/>
            <a:chExt cx="1178361" cy="1511092"/>
          </a:xfrm>
        </p:grpSpPr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A1209E11-EA92-6183-75B2-1F5A0806890D}"/>
                </a:ext>
              </a:extLst>
            </p:cNvPr>
            <p:cNvSpPr txBox="1"/>
            <p:nvPr/>
          </p:nvSpPr>
          <p:spPr>
            <a:xfrm>
              <a:off x="8090181" y="4445201"/>
              <a:ext cx="1178361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i="0" dirty="0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Réel</a:t>
              </a:r>
            </a:p>
            <a:p>
              <a:pPr algn="ctr"/>
              <a:r>
                <a:rPr lang="fr-FR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vs</a:t>
              </a:r>
              <a:endParaRPr lang="fr-FR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fr-FR" b="1" i="0" dirty="0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7 </a:t>
              </a:r>
              <a:r>
                <a:rPr lang="fr-FR" b="1" i="0" dirty="0" err="1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Kmean</a:t>
              </a:r>
              <a:r>
                <a:rPr lang="fr-FR" b="1" i="0" dirty="0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:</a:t>
              </a:r>
            </a:p>
            <a:p>
              <a:pPr algn="ctr"/>
              <a:r>
                <a:rPr lang="fr-FR" b="1" i="0" dirty="0">
                  <a:solidFill>
                    <a:schemeClr val="accent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ARI  </a:t>
              </a:r>
            </a:p>
            <a:p>
              <a:pPr algn="ctr"/>
              <a:r>
                <a:rPr lang="fr-FR" b="1" i="0" dirty="0">
                  <a:solidFill>
                    <a:schemeClr val="accent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0.2818</a:t>
              </a:r>
              <a:endParaRPr lang="fr-FR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251ED81-852C-73EB-4917-2E013B17676E}"/>
                </a:ext>
              </a:extLst>
            </p:cNvPr>
            <p:cNvSpPr/>
            <p:nvPr/>
          </p:nvSpPr>
          <p:spPr>
            <a:xfrm>
              <a:off x="8172400" y="4411437"/>
              <a:ext cx="945367" cy="1511091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24" name="Image 23">
            <a:extLst>
              <a:ext uri="{FF2B5EF4-FFF2-40B4-BE49-F238E27FC236}">
                <a16:creationId xmlns:a16="http://schemas.microsoft.com/office/drawing/2014/main" id="{1515C4B2-7A68-3D5D-7AE2-B2EF7FCF637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267" t="39199" r="48324" b="12476"/>
          <a:stretch/>
        </p:blipFill>
        <p:spPr>
          <a:xfrm>
            <a:off x="737120" y="3604255"/>
            <a:ext cx="3617297" cy="3130497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6B55426E-E2C8-7BC6-5E7B-4E1F264F45F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3221" t="39142" r="15370" b="12533"/>
          <a:stretch/>
        </p:blipFill>
        <p:spPr>
          <a:xfrm>
            <a:off x="4436634" y="3604255"/>
            <a:ext cx="3617297" cy="313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970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771083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35BB9DA8-31B4-F61B-9235-062CFABAB409}"/>
              </a:ext>
            </a:extLst>
          </p:cNvPr>
          <p:cNvSpPr txBox="1">
            <a:spLocks/>
          </p:cNvSpPr>
          <p:nvPr/>
        </p:nvSpPr>
        <p:spPr>
          <a:xfrm>
            <a:off x="467544" y="-27384"/>
            <a:ext cx="8229600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sz="3200" b="1" dirty="0">
                <a:solidFill>
                  <a:schemeClr val="bg1">
                    <a:lumMod val="95000"/>
                  </a:schemeClr>
                </a:solidFill>
              </a:rPr>
              <a:t>II-4. </a:t>
            </a:r>
            <a:r>
              <a:rPr lang="fr-FR" sz="3200" b="1" dirty="0">
                <a:solidFill>
                  <a:schemeClr val="bg1">
                    <a:lumMod val="95000"/>
                  </a:schemeClr>
                </a:solidFill>
              </a:rPr>
              <a:t>Comparaison des méthodes </a:t>
            </a:r>
            <a:r>
              <a:rPr lang="fr-FR" sz="3200" b="1" dirty="0" err="1">
                <a:solidFill>
                  <a:schemeClr val="bg1">
                    <a:lumMod val="95000"/>
                  </a:schemeClr>
                </a:solidFill>
              </a:rPr>
              <a:t>embedding</a:t>
            </a:r>
            <a:r>
              <a:rPr lang="fr-FR" sz="32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endParaRPr lang="fr-CH" sz="3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Flèche droite 10">
            <a:extLst>
              <a:ext uri="{FF2B5EF4-FFF2-40B4-BE49-F238E27FC236}">
                <a16:creationId xmlns:a16="http://schemas.microsoft.com/office/drawing/2014/main" id="{CCC04920-8304-76DA-6FE2-2A0E589A612F}"/>
              </a:ext>
            </a:extLst>
          </p:cNvPr>
          <p:cNvSpPr/>
          <p:nvPr/>
        </p:nvSpPr>
        <p:spPr>
          <a:xfrm>
            <a:off x="107504" y="860748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1C3C066-5137-799A-C92D-F636F6BDF0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856" t="21363" r="30464" b="63999"/>
          <a:stretch/>
        </p:blipFill>
        <p:spPr>
          <a:xfrm>
            <a:off x="728734" y="1359202"/>
            <a:ext cx="3618585" cy="2178304"/>
          </a:xfrm>
          <a:prstGeom prst="rect">
            <a:avLst/>
          </a:prstGeom>
        </p:spPr>
      </p:pic>
      <p:grpSp>
        <p:nvGrpSpPr>
          <p:cNvPr id="12" name="Groupe 11">
            <a:extLst>
              <a:ext uri="{FF2B5EF4-FFF2-40B4-BE49-F238E27FC236}">
                <a16:creationId xmlns:a16="http://schemas.microsoft.com/office/drawing/2014/main" id="{DD019DF7-59A3-9BED-4055-5A9993F2576D}"/>
              </a:ext>
            </a:extLst>
          </p:cNvPr>
          <p:cNvGrpSpPr/>
          <p:nvPr/>
        </p:nvGrpSpPr>
        <p:grpSpPr>
          <a:xfrm>
            <a:off x="8090181" y="4448761"/>
            <a:ext cx="1178361" cy="1511092"/>
            <a:chOff x="8090181" y="4411437"/>
            <a:chExt cx="1178361" cy="1511092"/>
          </a:xfrm>
        </p:grpSpPr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1FCDABBD-A6B5-6C19-F285-50A479506B5E}"/>
                </a:ext>
              </a:extLst>
            </p:cNvPr>
            <p:cNvSpPr txBox="1"/>
            <p:nvPr/>
          </p:nvSpPr>
          <p:spPr>
            <a:xfrm>
              <a:off x="8090181" y="4445201"/>
              <a:ext cx="1178361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i="0" dirty="0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Réel</a:t>
              </a:r>
            </a:p>
            <a:p>
              <a:pPr algn="ctr"/>
              <a:r>
                <a:rPr lang="fr-FR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vs</a:t>
              </a:r>
              <a:endParaRPr lang="fr-FR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fr-FR" b="1" i="0" dirty="0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7 </a:t>
              </a:r>
              <a:r>
                <a:rPr lang="fr-FR" b="1" i="0" dirty="0" err="1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Kmean</a:t>
              </a:r>
              <a:r>
                <a:rPr lang="fr-FR" b="1" i="0" dirty="0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:</a:t>
              </a:r>
            </a:p>
            <a:p>
              <a:pPr algn="ctr"/>
              <a:r>
                <a:rPr lang="fr-FR" b="1" i="0" dirty="0">
                  <a:solidFill>
                    <a:schemeClr val="accent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ARI  </a:t>
              </a:r>
            </a:p>
            <a:p>
              <a:pPr algn="ctr"/>
              <a:r>
                <a:rPr lang="fr-FR" b="1" i="0" dirty="0">
                  <a:solidFill>
                    <a:schemeClr val="accent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0.4929</a:t>
              </a:r>
              <a:endParaRPr lang="fr-FR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9C5588D-BF8A-D668-B37D-F207CD783CF9}"/>
                </a:ext>
              </a:extLst>
            </p:cNvPr>
            <p:cNvSpPr/>
            <p:nvPr/>
          </p:nvSpPr>
          <p:spPr>
            <a:xfrm>
              <a:off x="8172400" y="4411437"/>
              <a:ext cx="945367" cy="1511091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69302881-3474-2112-41B0-A15BB8E9F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224" y="764704"/>
            <a:ext cx="8229600" cy="748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H" dirty="0">
                <a:solidFill>
                  <a:schemeClr val="bg1">
                    <a:lumMod val="95000"/>
                  </a:schemeClr>
                </a:solidFill>
              </a:rPr>
              <a:t>USE</a:t>
            </a:r>
          </a:p>
        </p:txBody>
      </p:sp>
      <p:sp>
        <p:nvSpPr>
          <p:cNvPr id="20" name="Flèche droite 10">
            <a:extLst>
              <a:ext uri="{FF2B5EF4-FFF2-40B4-BE49-F238E27FC236}">
                <a16:creationId xmlns:a16="http://schemas.microsoft.com/office/drawing/2014/main" id="{914408B5-13BC-0C0D-9628-DF6D12D95AC1}"/>
              </a:ext>
            </a:extLst>
          </p:cNvPr>
          <p:cNvSpPr/>
          <p:nvPr/>
        </p:nvSpPr>
        <p:spPr>
          <a:xfrm>
            <a:off x="107504" y="860748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E7DDE56-1990-DC4F-8140-EA0993B0072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475" t="41999" r="47238" b="14602"/>
          <a:stretch/>
        </p:blipFill>
        <p:spPr>
          <a:xfrm>
            <a:off x="4443064" y="838034"/>
            <a:ext cx="3662196" cy="2714432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811CF25D-FF91-C709-44A3-DD9DD0EA232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075" t="34600" r="48074" b="15742"/>
          <a:stretch/>
        </p:blipFill>
        <p:spPr>
          <a:xfrm>
            <a:off x="739548" y="3604254"/>
            <a:ext cx="3607772" cy="3163949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CFFB3219-BD6C-07C4-4C4B-BA38811F8F1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2655" t="34600" r="15147" b="15742"/>
          <a:stretch/>
        </p:blipFill>
        <p:spPr>
          <a:xfrm>
            <a:off x="4451441" y="3612570"/>
            <a:ext cx="3647113" cy="316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21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771083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467544" y="-27384"/>
            <a:ext cx="8229600" cy="764704"/>
          </a:xfrm>
        </p:spPr>
        <p:txBody>
          <a:bodyPr>
            <a:normAutofit/>
          </a:bodyPr>
          <a:lstStyle/>
          <a:p>
            <a:r>
              <a:rPr lang="fr-CH" sz="3200" b="1" dirty="0">
                <a:solidFill>
                  <a:schemeClr val="bg1">
                    <a:lumMod val="95000"/>
                  </a:schemeClr>
                </a:solidFill>
              </a:rPr>
              <a:t>II-Texte : BILAN</a:t>
            </a:r>
          </a:p>
        </p:txBody>
      </p:sp>
      <p:cxnSp>
        <p:nvCxnSpPr>
          <p:cNvPr id="5" name="Connecteur droit 4"/>
          <p:cNvCxnSpPr/>
          <p:nvPr/>
        </p:nvCxnSpPr>
        <p:spPr>
          <a:xfrm>
            <a:off x="0" y="764704"/>
            <a:ext cx="921702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39552" y="2257909"/>
            <a:ext cx="8136904" cy="77108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E046DD-7C0E-CB04-2BA6-842002802F9E}"/>
              </a:ext>
            </a:extLst>
          </p:cNvPr>
          <p:cNvSpPr/>
          <p:nvPr/>
        </p:nvSpPr>
        <p:spPr>
          <a:xfrm>
            <a:off x="1156760" y="2369034"/>
            <a:ext cx="75196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H" sz="2400" b="1" dirty="0">
                <a:solidFill>
                  <a:schemeClr val="bg1"/>
                </a:solidFill>
              </a:rPr>
              <a:t>Meilleur Score ARI avec méthode Neurone NLK : USE 0,49</a:t>
            </a:r>
          </a:p>
        </p:txBody>
      </p:sp>
      <p:sp>
        <p:nvSpPr>
          <p:cNvPr id="16" name="Flèche droite 12">
            <a:extLst>
              <a:ext uri="{FF2B5EF4-FFF2-40B4-BE49-F238E27FC236}">
                <a16:creationId xmlns:a16="http://schemas.microsoft.com/office/drawing/2014/main" id="{F7C6F582-6119-D360-8338-90812B4D355A}"/>
              </a:ext>
            </a:extLst>
          </p:cNvPr>
          <p:cNvSpPr/>
          <p:nvPr/>
        </p:nvSpPr>
        <p:spPr>
          <a:xfrm>
            <a:off x="654663" y="2394087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èche droite 12">
            <a:extLst>
              <a:ext uri="{FF2B5EF4-FFF2-40B4-BE49-F238E27FC236}">
                <a16:creationId xmlns:a16="http://schemas.microsoft.com/office/drawing/2014/main" id="{4B64C08F-0505-2329-54B5-C614BB6EE8D6}"/>
              </a:ext>
            </a:extLst>
          </p:cNvPr>
          <p:cNvSpPr/>
          <p:nvPr/>
        </p:nvSpPr>
        <p:spPr>
          <a:xfrm rot="5400000">
            <a:off x="4391980" y="3590056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9B24C6-EAEF-4285-C2A3-E7BFBB4186EE}"/>
              </a:ext>
            </a:extLst>
          </p:cNvPr>
          <p:cNvSpPr/>
          <p:nvPr/>
        </p:nvSpPr>
        <p:spPr>
          <a:xfrm>
            <a:off x="1218540" y="4221088"/>
            <a:ext cx="68716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CH" sz="2400" b="1" dirty="0">
                <a:solidFill>
                  <a:schemeClr val="accent1"/>
                </a:solidFill>
              </a:rPr>
              <a:t>Possible de retrouver les catégories réelles</a:t>
            </a:r>
          </a:p>
          <a:p>
            <a:pPr algn="ctr"/>
            <a:r>
              <a:rPr lang="fr-CH" sz="2400" b="1" dirty="0">
                <a:solidFill>
                  <a:schemeClr val="accent1"/>
                </a:solidFill>
              </a:rPr>
              <a:t>avec les données</a:t>
            </a:r>
          </a:p>
          <a:p>
            <a:pPr algn="ctr"/>
            <a:r>
              <a:rPr lang="fr-CH" sz="2400" b="1" dirty="0">
                <a:solidFill>
                  <a:schemeClr val="accent1"/>
                </a:solidFill>
              </a:rPr>
              <a:t>Textuelles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FF449F-FE3E-9E89-F561-5076C69E8147}"/>
              </a:ext>
            </a:extLst>
          </p:cNvPr>
          <p:cNvSpPr/>
          <p:nvPr/>
        </p:nvSpPr>
        <p:spPr>
          <a:xfrm>
            <a:off x="36512" y="6279703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CH" sz="2400" b="1" dirty="0">
                <a:solidFill>
                  <a:schemeClr val="accent1"/>
                </a:solidFill>
              </a:rPr>
              <a:t>Remarque : problèmes pour séparer classe Home </a:t>
            </a:r>
            <a:r>
              <a:rPr lang="fr-CH" sz="2400" b="1" dirty="0" err="1">
                <a:solidFill>
                  <a:schemeClr val="accent1"/>
                </a:solidFill>
              </a:rPr>
              <a:t>furnishing</a:t>
            </a:r>
            <a:r>
              <a:rPr lang="fr-CH" sz="2400" b="1" dirty="0">
                <a:solidFill>
                  <a:schemeClr val="accent1"/>
                </a:solidFill>
              </a:rPr>
              <a:t> et </a:t>
            </a:r>
            <a:r>
              <a:rPr lang="fr-CH" sz="2400" b="1" dirty="0" err="1">
                <a:solidFill>
                  <a:schemeClr val="accent1"/>
                </a:solidFill>
              </a:rPr>
              <a:t>kitchen</a:t>
            </a:r>
            <a:endParaRPr lang="fr-CH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37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4221088"/>
            <a:ext cx="9144000" cy="10801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 dirty="0">
                <a:solidFill>
                  <a:schemeClr val="bg1">
                    <a:lumMod val="95000"/>
                  </a:schemeClr>
                </a:solidFill>
              </a:rPr>
              <a:t>III - </a:t>
            </a:r>
            <a:r>
              <a:rPr lang="fr-CH" b="1" dirty="0">
                <a:solidFill>
                  <a:schemeClr val="bg1"/>
                </a:solidFill>
              </a:rPr>
              <a:t>Analyse des </a:t>
            </a:r>
            <a:r>
              <a:rPr lang="fr-CH" b="1" dirty="0" err="1">
                <a:solidFill>
                  <a:schemeClr val="bg1"/>
                </a:solidFill>
              </a:rPr>
              <a:t>imageS</a:t>
            </a:r>
            <a:br>
              <a:rPr lang="fr-CH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fr-CH" dirty="0">
                <a:solidFill>
                  <a:schemeClr val="bg1">
                    <a:lumMod val="95000"/>
                  </a:schemeClr>
                </a:solidFill>
              </a:rPr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59706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771083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3712" y="0"/>
            <a:ext cx="8229600" cy="764704"/>
          </a:xfrm>
        </p:spPr>
        <p:txBody>
          <a:bodyPr>
            <a:normAutofit/>
          </a:bodyPr>
          <a:lstStyle/>
          <a:p>
            <a:r>
              <a:rPr lang="fr-CH" dirty="0">
                <a:solidFill>
                  <a:schemeClr val="bg1"/>
                </a:solidFill>
              </a:rPr>
              <a:t>PLAN</a:t>
            </a:r>
            <a:endParaRPr lang="en-GB" dirty="0">
              <a:solidFill>
                <a:schemeClr val="bg1"/>
              </a:solidFill>
            </a:endParaRPr>
          </a:p>
        </p:txBody>
      </p:sp>
      <p:cxnSp>
        <p:nvCxnSpPr>
          <p:cNvPr id="3" name="Connecteur droit 2"/>
          <p:cNvCxnSpPr/>
          <p:nvPr/>
        </p:nvCxnSpPr>
        <p:spPr>
          <a:xfrm>
            <a:off x="0" y="764704"/>
            <a:ext cx="921702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683568" y="764704"/>
            <a:ext cx="8460432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Introduction</a:t>
            </a:r>
          </a:p>
          <a:p>
            <a:endParaRPr lang="fr-CH" b="1" u="sng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fr-CH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I- </a:t>
            </a:r>
            <a:r>
              <a:rPr lang="fr-CH" b="1" u="sng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Pré-analyse</a:t>
            </a:r>
            <a:r>
              <a:rPr lang="fr-CH" b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: Exploration du jeu de données</a:t>
            </a:r>
          </a:p>
          <a:p>
            <a:r>
              <a:rPr lang="fr-CH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1. Description du contenu et</a:t>
            </a:r>
          </a:p>
          <a:p>
            <a:r>
              <a:rPr lang="fr-CH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2. Nettoyage des données</a:t>
            </a:r>
          </a:p>
          <a:p>
            <a:r>
              <a:rPr lang="fr-CH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3. Création d’une colonne catégorie produit</a:t>
            </a:r>
          </a:p>
          <a:p>
            <a:endParaRPr lang="fr-CH" b="1" dirty="0">
              <a:solidFill>
                <a:prstClr val="white">
                  <a:lumMod val="95000"/>
                </a:prstClr>
              </a:solidFill>
            </a:endParaRPr>
          </a:p>
          <a:p>
            <a:r>
              <a:rPr lang="fr-CH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II- </a:t>
            </a:r>
            <a:r>
              <a:rPr lang="fr-CH" b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Analyse des données textuelles</a:t>
            </a:r>
          </a:p>
          <a:p>
            <a:r>
              <a:rPr lang="fr-CH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1. Description </a:t>
            </a:r>
          </a:p>
          <a:p>
            <a:r>
              <a:rPr lang="fr-CH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2. Préparation des documents et corpus </a:t>
            </a:r>
          </a:p>
          <a:p>
            <a:r>
              <a:rPr lang="fr-CH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3. Analyse du corpus</a:t>
            </a:r>
          </a:p>
          <a:p>
            <a:r>
              <a:rPr lang="fr-CH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4. Comparaison des méthodes </a:t>
            </a:r>
            <a:r>
              <a:rPr lang="fr-CH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embending</a:t>
            </a:r>
            <a:r>
              <a:rPr lang="fr-CH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r>
              <a:rPr lang="fr-CH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     4.1 Classiques : </a:t>
            </a:r>
            <a:r>
              <a:rPr lang="fr-CH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CountVectorizer</a:t>
            </a:r>
            <a:r>
              <a:rPr lang="fr-CH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TFIDF </a:t>
            </a:r>
          </a:p>
          <a:p>
            <a:r>
              <a:rPr lang="fr-CH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     4.2 Réseau de neurones </a:t>
            </a:r>
          </a:p>
          <a:p>
            <a:r>
              <a:rPr lang="fr-CH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- WORD2VEC</a:t>
            </a:r>
          </a:p>
          <a:p>
            <a:r>
              <a:rPr lang="fr-CH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- BERT</a:t>
            </a:r>
          </a:p>
          <a:p>
            <a:r>
              <a:rPr lang="fr-CH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- USE</a:t>
            </a:r>
            <a:endParaRPr lang="fr-CH" b="1" u="sng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fr-CH" b="1" dirty="0">
                <a:solidFill>
                  <a:schemeClr val="bg1"/>
                </a:solidFill>
              </a:rPr>
              <a:t>III- </a:t>
            </a:r>
            <a:r>
              <a:rPr lang="fr-CH" b="1" u="sng" dirty="0">
                <a:solidFill>
                  <a:schemeClr val="bg1"/>
                </a:solidFill>
              </a:rPr>
              <a:t>Analyse des images</a:t>
            </a:r>
          </a:p>
          <a:p>
            <a:r>
              <a:rPr lang="fr-CH" dirty="0">
                <a:solidFill>
                  <a:schemeClr val="bg1"/>
                </a:solidFill>
              </a:rPr>
              <a:t>	1. Description des images</a:t>
            </a:r>
          </a:p>
          <a:p>
            <a:r>
              <a:rPr lang="fr-CH" dirty="0">
                <a:solidFill>
                  <a:schemeClr val="bg1"/>
                </a:solidFill>
              </a:rPr>
              <a:t>	2. Création des </a:t>
            </a:r>
            <a:r>
              <a:rPr lang="fr-CH" dirty="0" err="1">
                <a:solidFill>
                  <a:schemeClr val="bg1"/>
                </a:solidFill>
              </a:rPr>
              <a:t>features</a:t>
            </a:r>
            <a:r>
              <a:rPr lang="fr-CH" dirty="0">
                <a:solidFill>
                  <a:schemeClr val="bg1"/>
                </a:solidFill>
              </a:rPr>
              <a:t> avec </a:t>
            </a:r>
          </a:p>
          <a:p>
            <a:r>
              <a:rPr lang="fr-CH" dirty="0">
                <a:solidFill>
                  <a:schemeClr val="bg1"/>
                </a:solidFill>
              </a:rPr>
              <a:t>	    2.1 la méthode SIFT</a:t>
            </a:r>
            <a:endParaRPr lang="fr-CH" b="1" u="sng" dirty="0">
              <a:solidFill>
                <a:schemeClr val="bg1"/>
              </a:solidFill>
            </a:endParaRPr>
          </a:p>
          <a:p>
            <a:r>
              <a:rPr lang="fr-CH" dirty="0">
                <a:solidFill>
                  <a:schemeClr val="bg1"/>
                </a:solidFill>
              </a:rPr>
              <a:t>	    2.2 CNN (VV16</a:t>
            </a:r>
            <a:r>
              <a:rPr lang="fr-CH" b="1" dirty="0">
                <a:solidFill>
                  <a:schemeClr val="bg1"/>
                </a:solidFill>
              </a:rPr>
              <a:t>)</a:t>
            </a:r>
          </a:p>
          <a:p>
            <a:r>
              <a:rPr lang="fr-CH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</a:p>
          <a:p>
            <a:r>
              <a:rPr lang="fr-CH" b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Conclusion</a:t>
            </a:r>
          </a:p>
          <a:p>
            <a:r>
              <a:rPr lang="fr-CH" b="1" dirty="0">
                <a:solidFill>
                  <a:prstClr val="white">
                    <a:lumMod val="95000"/>
                  </a:prstClr>
                </a:solidFill>
              </a:rPr>
              <a:t>	</a:t>
            </a:r>
            <a:endParaRPr lang="en-GB" dirty="0">
              <a:solidFill>
                <a:prstClr val="white">
                  <a:lumMod val="9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6430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-27384"/>
            <a:ext cx="9144000" cy="771083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4B8C674A-011B-BDF4-3C1B-75E82364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-72008"/>
            <a:ext cx="8229600" cy="764704"/>
          </a:xfrm>
        </p:spPr>
        <p:txBody>
          <a:bodyPr>
            <a:normAutofit/>
          </a:bodyPr>
          <a:lstStyle/>
          <a:p>
            <a:r>
              <a:rPr lang="fr-CH" sz="3200" b="1" dirty="0">
                <a:solidFill>
                  <a:schemeClr val="bg1">
                    <a:lumMod val="95000"/>
                  </a:schemeClr>
                </a:solidFill>
              </a:rPr>
              <a:t>III-1. Description des images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FDEDD52-986D-78F8-4AE4-C66F1948FD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688" t="13809" r="48025" b="30609"/>
          <a:stretch/>
        </p:blipFill>
        <p:spPr>
          <a:xfrm>
            <a:off x="144016" y="788323"/>
            <a:ext cx="4176464" cy="404418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6BBEE3A-3B57-2A7E-A0C8-430B48B47A5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288" t="15000" r="48715" b="30044"/>
          <a:stretch/>
        </p:blipFill>
        <p:spPr>
          <a:xfrm>
            <a:off x="4954825" y="805647"/>
            <a:ext cx="4032448" cy="389587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2717EC8-7932-B8C4-04FB-B2317ACE0CA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900" t="12600" r="48813" b="58001"/>
          <a:stretch/>
        </p:blipFill>
        <p:spPr>
          <a:xfrm>
            <a:off x="35496" y="4797152"/>
            <a:ext cx="4217611" cy="216024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28F8593A-9BFC-D97F-1C1D-2D9395AB88A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9288" t="57000" r="49212" b="16400"/>
          <a:stretch/>
        </p:blipFill>
        <p:spPr>
          <a:xfrm>
            <a:off x="4954825" y="4816594"/>
            <a:ext cx="4297695" cy="204140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EFAC72E4-F7E9-00F8-59CF-5CEBF67FE6B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8882" t="10801" r="47255" b="41600"/>
          <a:stretch/>
        </p:blipFill>
        <p:spPr>
          <a:xfrm>
            <a:off x="3131840" y="1916832"/>
            <a:ext cx="3096344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525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-27384"/>
            <a:ext cx="9144000" cy="658311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4B8C674A-011B-BDF4-3C1B-75E82364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-72008"/>
            <a:ext cx="8229600" cy="764704"/>
          </a:xfrm>
        </p:spPr>
        <p:txBody>
          <a:bodyPr>
            <a:normAutofit/>
          </a:bodyPr>
          <a:lstStyle/>
          <a:p>
            <a:r>
              <a:rPr lang="fr-CH" sz="3200" b="1" dirty="0">
                <a:solidFill>
                  <a:schemeClr val="bg1">
                    <a:lumMod val="95000"/>
                  </a:schemeClr>
                </a:solidFill>
              </a:rPr>
              <a:t>III-2.1 Création </a:t>
            </a:r>
            <a:r>
              <a:rPr lang="fr-CH" sz="3200" b="1" dirty="0" err="1">
                <a:solidFill>
                  <a:schemeClr val="bg1">
                    <a:lumMod val="95000"/>
                  </a:schemeClr>
                </a:solidFill>
              </a:rPr>
              <a:t>features</a:t>
            </a:r>
            <a:r>
              <a:rPr lang="fr-CH" sz="3200" b="1" dirty="0">
                <a:solidFill>
                  <a:schemeClr val="bg1">
                    <a:lumMod val="95000"/>
                  </a:schemeClr>
                </a:solidFill>
              </a:rPr>
              <a:t> avec Méthode SIFT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36856662-78E2-054D-33D4-71F21D7F3D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790" t="59735" r="64090" b="23465"/>
          <a:stretch/>
        </p:blipFill>
        <p:spPr>
          <a:xfrm>
            <a:off x="36463" y="620688"/>
            <a:ext cx="2935245" cy="1800200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453E1B73-DB3E-6E6A-8E41-8148901338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532" t="59808" r="49348" b="23392"/>
          <a:stretch/>
        </p:blipFill>
        <p:spPr>
          <a:xfrm>
            <a:off x="95570" y="3040847"/>
            <a:ext cx="2880320" cy="1800200"/>
          </a:xfrm>
          <a:prstGeom prst="rect">
            <a:avLst/>
          </a:prstGeom>
        </p:spPr>
      </p:pic>
      <p:sp>
        <p:nvSpPr>
          <p:cNvPr id="17" name="Flèche droite 10">
            <a:extLst>
              <a:ext uri="{FF2B5EF4-FFF2-40B4-BE49-F238E27FC236}">
                <a16:creationId xmlns:a16="http://schemas.microsoft.com/office/drawing/2014/main" id="{D9898480-2EAF-D0B5-8303-3C03898690F2}"/>
              </a:ext>
            </a:extLst>
          </p:cNvPr>
          <p:cNvSpPr/>
          <p:nvPr/>
        </p:nvSpPr>
        <p:spPr>
          <a:xfrm rot="5400000">
            <a:off x="1206714" y="2554913"/>
            <a:ext cx="539820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A42BD8-7344-3DB8-AFCA-7B01FB91970A}"/>
              </a:ext>
            </a:extLst>
          </p:cNvPr>
          <p:cNvSpPr/>
          <p:nvPr/>
        </p:nvSpPr>
        <p:spPr>
          <a:xfrm>
            <a:off x="3702896" y="4708035"/>
            <a:ext cx="5304436" cy="211102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lèche droite 10">
            <a:extLst>
              <a:ext uri="{FF2B5EF4-FFF2-40B4-BE49-F238E27FC236}">
                <a16:creationId xmlns:a16="http://schemas.microsoft.com/office/drawing/2014/main" id="{4C45BAEF-4838-341B-1C6B-083E3EFF5565}"/>
              </a:ext>
            </a:extLst>
          </p:cNvPr>
          <p:cNvSpPr/>
          <p:nvPr/>
        </p:nvSpPr>
        <p:spPr>
          <a:xfrm>
            <a:off x="3001464" y="5701791"/>
            <a:ext cx="512997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BAE72044-0EE8-7CEA-017D-9A0122538383}"/>
              </a:ext>
            </a:extLst>
          </p:cNvPr>
          <p:cNvSpPr txBox="1"/>
          <p:nvPr/>
        </p:nvSpPr>
        <p:spPr>
          <a:xfrm>
            <a:off x="-18461" y="2381208"/>
            <a:ext cx="293524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Niveau de gris</a:t>
            </a:r>
          </a:p>
          <a:p>
            <a:r>
              <a:rPr lang="fr-F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fr-FR" sz="1400" b="1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Equaliser</a:t>
            </a:r>
            <a:r>
              <a:rPr lang="fr-F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fr-FR" sz="1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(contraste/luminosité)</a:t>
            </a:r>
            <a:endParaRPr lang="fr-FR" sz="10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01208912-EA67-A49C-B401-9A2F0699E2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312" t="29098" r="61847" b="54758"/>
          <a:stretch/>
        </p:blipFill>
        <p:spPr>
          <a:xfrm>
            <a:off x="314582" y="5475534"/>
            <a:ext cx="2304256" cy="140985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2B4A95EA-4493-26AF-0FAC-DC26CB99D262}"/>
              </a:ext>
            </a:extLst>
          </p:cNvPr>
          <p:cNvSpPr/>
          <p:nvPr/>
        </p:nvSpPr>
        <p:spPr>
          <a:xfrm>
            <a:off x="314582" y="5500350"/>
            <a:ext cx="2304256" cy="131302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Flèche droite 10">
            <a:extLst>
              <a:ext uri="{FF2B5EF4-FFF2-40B4-BE49-F238E27FC236}">
                <a16:creationId xmlns:a16="http://schemas.microsoft.com/office/drawing/2014/main" id="{9E0AC822-BA51-D258-FA96-4FCE78352C6F}"/>
              </a:ext>
            </a:extLst>
          </p:cNvPr>
          <p:cNvSpPr/>
          <p:nvPr/>
        </p:nvSpPr>
        <p:spPr>
          <a:xfrm rot="5400000">
            <a:off x="1206714" y="4959290"/>
            <a:ext cx="539820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Flèche droite 10">
            <a:extLst>
              <a:ext uri="{FF2B5EF4-FFF2-40B4-BE49-F238E27FC236}">
                <a16:creationId xmlns:a16="http://schemas.microsoft.com/office/drawing/2014/main" id="{37E1629B-B69D-1F2F-A2E2-594E82C2C2E9}"/>
              </a:ext>
            </a:extLst>
          </p:cNvPr>
          <p:cNvSpPr/>
          <p:nvPr/>
        </p:nvSpPr>
        <p:spPr>
          <a:xfrm rot="16200000">
            <a:off x="5788267" y="3965098"/>
            <a:ext cx="539820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439D39FA-BF44-D758-93A4-C59AD40191B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075" t="31959" r="15065" b="15000"/>
          <a:stretch/>
        </p:blipFill>
        <p:spPr>
          <a:xfrm>
            <a:off x="3233306" y="1053150"/>
            <a:ext cx="5774027" cy="2656116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BF06C70-5466-D6BB-7098-C9DB87CA7EE1}"/>
              </a:ext>
            </a:extLst>
          </p:cNvPr>
          <p:cNvSpPr txBox="1"/>
          <p:nvPr/>
        </p:nvSpPr>
        <p:spPr>
          <a:xfrm>
            <a:off x="3751853" y="4725144"/>
            <a:ext cx="525547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fr-FR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Histogramme (nb de pixel avec tel intensité)</a:t>
            </a:r>
          </a:p>
          <a:p>
            <a:pPr marL="342900" indent="-342900">
              <a:buAutoNum type="arabicPeriod"/>
            </a:pPr>
            <a:r>
              <a:rPr lang="fr-FR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Lissage/élimination du bruit (moyenne, médiane gaussienne)</a:t>
            </a:r>
          </a:p>
          <a:p>
            <a:pPr marL="342900" indent="-342900">
              <a:buAutoNum type="arabicPeriod"/>
            </a:pPr>
            <a:r>
              <a:rPr lang="fr-FR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Template </a:t>
            </a:r>
            <a:r>
              <a:rPr lang="fr-FR" b="1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maching</a:t>
            </a:r>
            <a:endParaRPr lang="fr-FR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/>
            </a:pPr>
            <a:r>
              <a:rPr lang="fr-FR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Création </a:t>
            </a:r>
            <a:r>
              <a:rPr lang="fr-FR" b="1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</a:t>
            </a:r>
            <a:r>
              <a:rPr lang="fr-FR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/descripteur (un vecteur)</a:t>
            </a:r>
          </a:p>
          <a:p>
            <a:pPr marL="342900" indent="-342900">
              <a:buAutoNum type="arabicPeriod"/>
            </a:pPr>
            <a:r>
              <a:rPr lang="fr-FR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Création bag of descripteur (clustering, k-</a:t>
            </a:r>
            <a:r>
              <a:rPr lang="fr-FR" b="1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means</a:t>
            </a:r>
            <a:r>
              <a:rPr lang="fr-FR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42900" indent="-342900">
              <a:buAutoNum type="arabicPeriod"/>
            </a:pPr>
            <a:r>
              <a:rPr lang="fr-FR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Histogramme </a:t>
            </a:r>
            <a:r>
              <a:rPr lang="fr-FR" b="1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</a:t>
            </a:r>
            <a:r>
              <a:rPr lang="fr-FR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b="1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words</a:t>
            </a:r>
            <a:endParaRPr lang="fr-FR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8530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-27384"/>
            <a:ext cx="9144000" cy="771083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4B8C674A-011B-BDF4-3C1B-75E82364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-72008"/>
            <a:ext cx="8229600" cy="764704"/>
          </a:xfrm>
        </p:spPr>
        <p:txBody>
          <a:bodyPr>
            <a:normAutofit/>
          </a:bodyPr>
          <a:lstStyle/>
          <a:p>
            <a:r>
              <a:rPr lang="fr-CH" sz="3200" b="1" dirty="0">
                <a:solidFill>
                  <a:schemeClr val="bg1">
                    <a:lumMod val="95000"/>
                  </a:schemeClr>
                </a:solidFill>
              </a:rPr>
              <a:t>III - 2.1 SIFT : résultats clustering k-</a:t>
            </a:r>
            <a:r>
              <a:rPr lang="fr-CH" sz="3200" b="1" dirty="0" err="1">
                <a:solidFill>
                  <a:schemeClr val="bg1">
                    <a:lumMod val="95000"/>
                  </a:schemeClr>
                </a:solidFill>
              </a:rPr>
              <a:t>means</a:t>
            </a:r>
            <a:r>
              <a:rPr lang="fr-CH" sz="3200" b="1" dirty="0">
                <a:solidFill>
                  <a:schemeClr val="bg1">
                    <a:lumMod val="95000"/>
                  </a:schemeClr>
                </a:solidFill>
              </a:rPr>
              <a:t> (7)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A285667-FB65-EA10-4C2E-F3A6282302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075" t="34600" r="47638" b="16400"/>
          <a:stretch/>
        </p:blipFill>
        <p:spPr>
          <a:xfrm>
            <a:off x="251159" y="3034184"/>
            <a:ext cx="4320841" cy="368852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47441DB-FD66-C4A7-17C9-CBDE9B03916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5856" t="21363" r="30799" b="63999"/>
          <a:stretch/>
        </p:blipFill>
        <p:spPr>
          <a:xfrm>
            <a:off x="6012160" y="1052736"/>
            <a:ext cx="2879700" cy="177707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9F9309A-1C01-D70D-AA3D-DF2ABF360C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918" t="34600" r="15351" b="16400"/>
          <a:stretch/>
        </p:blipFill>
        <p:spPr>
          <a:xfrm>
            <a:off x="4788024" y="3026477"/>
            <a:ext cx="4112524" cy="3688522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795146CB-AAE4-4CD5-D928-B84F7923342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075" t="41599" r="43382" b="23401"/>
          <a:stretch/>
        </p:blipFill>
        <p:spPr>
          <a:xfrm>
            <a:off x="251158" y="769648"/>
            <a:ext cx="4320841" cy="2230879"/>
          </a:xfrm>
          <a:prstGeom prst="rect">
            <a:avLst/>
          </a:prstGeom>
        </p:spPr>
      </p:pic>
      <p:grpSp>
        <p:nvGrpSpPr>
          <p:cNvPr id="3" name="Groupe 2">
            <a:extLst>
              <a:ext uri="{FF2B5EF4-FFF2-40B4-BE49-F238E27FC236}">
                <a16:creationId xmlns:a16="http://schemas.microsoft.com/office/drawing/2014/main" id="{2930EDD6-8A20-F38E-56B2-B42EA1ECD44C}"/>
              </a:ext>
            </a:extLst>
          </p:cNvPr>
          <p:cNvGrpSpPr/>
          <p:nvPr/>
        </p:nvGrpSpPr>
        <p:grpSpPr>
          <a:xfrm>
            <a:off x="4716016" y="1185728"/>
            <a:ext cx="1178361" cy="1511092"/>
            <a:chOff x="8090181" y="4411437"/>
            <a:chExt cx="1178361" cy="1511092"/>
          </a:xfrm>
        </p:grpSpPr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93A6E2F1-222D-46A9-AF36-58D27845CBA5}"/>
                </a:ext>
              </a:extLst>
            </p:cNvPr>
            <p:cNvSpPr txBox="1"/>
            <p:nvPr/>
          </p:nvSpPr>
          <p:spPr>
            <a:xfrm>
              <a:off x="8090181" y="4445201"/>
              <a:ext cx="1178361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i="0" dirty="0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Réel</a:t>
              </a:r>
            </a:p>
            <a:p>
              <a:pPr algn="ctr"/>
              <a:r>
                <a:rPr lang="fr-FR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vs</a:t>
              </a:r>
              <a:endParaRPr lang="fr-FR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fr-FR" b="1" i="0" dirty="0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7 </a:t>
              </a:r>
              <a:r>
                <a:rPr lang="fr-FR" b="1" i="0" dirty="0" err="1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Kmean</a:t>
              </a:r>
              <a:r>
                <a:rPr lang="fr-FR" b="1" i="0" dirty="0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:</a:t>
              </a:r>
            </a:p>
            <a:p>
              <a:pPr algn="ctr"/>
              <a:r>
                <a:rPr lang="fr-FR" b="1" i="0" dirty="0">
                  <a:solidFill>
                    <a:schemeClr val="accent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ARI  </a:t>
              </a:r>
            </a:p>
            <a:p>
              <a:pPr algn="ctr"/>
              <a:r>
                <a:rPr lang="fr-FR" b="1" i="0" dirty="0">
                  <a:solidFill>
                    <a:schemeClr val="accent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0.05</a:t>
              </a:r>
              <a:endParaRPr lang="fr-FR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92B2B8F-1C69-27C8-83CE-04B5C25B5F84}"/>
                </a:ext>
              </a:extLst>
            </p:cNvPr>
            <p:cNvSpPr/>
            <p:nvPr/>
          </p:nvSpPr>
          <p:spPr>
            <a:xfrm>
              <a:off x="8172400" y="4411437"/>
              <a:ext cx="945367" cy="1511091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90029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DC89133A-D76B-D15F-6982-79A321D795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075" t="35765" r="42913" b="29685"/>
          <a:stretch/>
        </p:blipFill>
        <p:spPr>
          <a:xfrm>
            <a:off x="323527" y="674634"/>
            <a:ext cx="4104457" cy="215517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-27383"/>
            <a:ext cx="9144000" cy="702018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4B8C674A-011B-BDF4-3C1B-75E82364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-72008"/>
            <a:ext cx="8229600" cy="764704"/>
          </a:xfrm>
        </p:spPr>
        <p:txBody>
          <a:bodyPr>
            <a:normAutofit/>
          </a:bodyPr>
          <a:lstStyle/>
          <a:p>
            <a:r>
              <a:rPr lang="fr-CH" sz="3200" b="1" dirty="0">
                <a:solidFill>
                  <a:schemeClr val="bg1">
                    <a:lumMod val="95000"/>
                  </a:schemeClr>
                </a:solidFill>
              </a:rPr>
              <a:t>III - 2.2 Création </a:t>
            </a:r>
            <a:r>
              <a:rPr lang="fr-CH" sz="3200" b="1" dirty="0" err="1">
                <a:solidFill>
                  <a:schemeClr val="bg1">
                    <a:lumMod val="95000"/>
                  </a:schemeClr>
                </a:solidFill>
              </a:rPr>
              <a:t>features</a:t>
            </a:r>
            <a:r>
              <a:rPr lang="fr-CH" sz="3200" b="1" dirty="0">
                <a:solidFill>
                  <a:schemeClr val="bg1">
                    <a:lumMod val="95000"/>
                  </a:schemeClr>
                </a:solidFill>
              </a:rPr>
              <a:t> avec Méthode CNN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47441DB-FD66-C4A7-17C9-CBDE9B03916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5856" t="21363" r="30799" b="63999"/>
          <a:stretch/>
        </p:blipFill>
        <p:spPr>
          <a:xfrm>
            <a:off x="6012160" y="1052736"/>
            <a:ext cx="2879700" cy="1777076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3ABD54FD-DEE1-F0B6-D8C9-E223E4A856D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076" t="30400" r="48992" b="19200"/>
          <a:stretch/>
        </p:blipFill>
        <p:spPr>
          <a:xfrm>
            <a:off x="323528" y="2924943"/>
            <a:ext cx="4104456" cy="3761707"/>
          </a:xfrm>
          <a:prstGeom prst="rect">
            <a:avLst/>
          </a:prstGeom>
        </p:spPr>
      </p:pic>
      <p:grpSp>
        <p:nvGrpSpPr>
          <p:cNvPr id="6" name="Groupe 5">
            <a:extLst>
              <a:ext uri="{FF2B5EF4-FFF2-40B4-BE49-F238E27FC236}">
                <a16:creationId xmlns:a16="http://schemas.microsoft.com/office/drawing/2014/main" id="{4CB44BB7-E01A-6C78-BCE7-B3957E61ACB7}"/>
              </a:ext>
            </a:extLst>
          </p:cNvPr>
          <p:cNvGrpSpPr/>
          <p:nvPr/>
        </p:nvGrpSpPr>
        <p:grpSpPr>
          <a:xfrm>
            <a:off x="4644008" y="1071398"/>
            <a:ext cx="1178361" cy="1511092"/>
            <a:chOff x="8090181" y="4411437"/>
            <a:chExt cx="1178361" cy="1511092"/>
          </a:xfrm>
        </p:grpSpPr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8107E590-8D35-4CD4-90B5-FA97E547C8F8}"/>
                </a:ext>
              </a:extLst>
            </p:cNvPr>
            <p:cNvSpPr txBox="1"/>
            <p:nvPr/>
          </p:nvSpPr>
          <p:spPr>
            <a:xfrm>
              <a:off x="8090181" y="4445201"/>
              <a:ext cx="1178361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i="0" dirty="0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Réel</a:t>
              </a:r>
            </a:p>
            <a:p>
              <a:pPr algn="ctr"/>
              <a:r>
                <a:rPr lang="fr-FR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vs</a:t>
              </a:r>
              <a:endParaRPr lang="fr-FR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fr-FR" b="1" i="0" dirty="0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7 </a:t>
              </a:r>
              <a:r>
                <a:rPr lang="fr-FR" b="1" i="0" dirty="0" err="1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Kmean</a:t>
              </a:r>
              <a:r>
                <a:rPr lang="fr-FR" b="1" i="0" dirty="0">
                  <a:solidFill>
                    <a:schemeClr val="bg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:</a:t>
              </a:r>
            </a:p>
            <a:p>
              <a:pPr algn="ctr"/>
              <a:r>
                <a:rPr lang="fr-FR" b="1" i="0" dirty="0">
                  <a:solidFill>
                    <a:schemeClr val="accent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ARI  </a:t>
              </a:r>
            </a:p>
            <a:p>
              <a:pPr algn="ctr"/>
              <a:r>
                <a:rPr lang="fr-FR" b="1" i="0" dirty="0">
                  <a:solidFill>
                    <a:schemeClr val="accent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0.4701</a:t>
              </a:r>
              <a:endParaRPr lang="fr-FR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4206C80-B328-E12E-79C0-8F738790B367}"/>
                </a:ext>
              </a:extLst>
            </p:cNvPr>
            <p:cNvSpPr/>
            <p:nvPr/>
          </p:nvSpPr>
          <p:spPr>
            <a:xfrm>
              <a:off x="8172400" y="4411437"/>
              <a:ext cx="945367" cy="1511091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4" name="Image 13">
            <a:extLst>
              <a:ext uri="{FF2B5EF4-FFF2-40B4-BE49-F238E27FC236}">
                <a16:creationId xmlns:a16="http://schemas.microsoft.com/office/drawing/2014/main" id="{E2BFC731-DDB1-A7BE-0437-F3D69B62358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3718" t="30400" r="14811" b="19200"/>
          <a:stretch/>
        </p:blipFill>
        <p:spPr>
          <a:xfrm>
            <a:off x="4716016" y="2924943"/>
            <a:ext cx="4175844" cy="376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99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771083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467544" y="-27384"/>
            <a:ext cx="8229600" cy="764704"/>
          </a:xfrm>
        </p:spPr>
        <p:txBody>
          <a:bodyPr>
            <a:normAutofit/>
          </a:bodyPr>
          <a:lstStyle/>
          <a:p>
            <a:r>
              <a:rPr lang="fr-CH" sz="3200" b="1" dirty="0">
                <a:solidFill>
                  <a:schemeClr val="bg1">
                    <a:lumMod val="95000"/>
                  </a:schemeClr>
                </a:solidFill>
              </a:rPr>
              <a:t>III - Images : BILAN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DDD181-C4E2-282E-D28E-2E2567858088}"/>
              </a:ext>
            </a:extLst>
          </p:cNvPr>
          <p:cNvSpPr/>
          <p:nvPr/>
        </p:nvSpPr>
        <p:spPr>
          <a:xfrm>
            <a:off x="1000504" y="2257909"/>
            <a:ext cx="7243903" cy="77108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8F0BD0-123A-A31A-CB73-9A91403BA5D4}"/>
              </a:ext>
            </a:extLst>
          </p:cNvPr>
          <p:cNvSpPr/>
          <p:nvPr/>
        </p:nvSpPr>
        <p:spPr>
          <a:xfrm>
            <a:off x="1617713" y="2369034"/>
            <a:ext cx="66266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H" sz="2400" b="1" dirty="0">
                <a:solidFill>
                  <a:schemeClr val="bg1"/>
                </a:solidFill>
              </a:rPr>
              <a:t>Meilleur Score ARI avec méthode CNN : VG16 0,47</a:t>
            </a:r>
          </a:p>
        </p:txBody>
      </p:sp>
      <p:sp>
        <p:nvSpPr>
          <p:cNvPr id="17" name="Flèche droite 12">
            <a:extLst>
              <a:ext uri="{FF2B5EF4-FFF2-40B4-BE49-F238E27FC236}">
                <a16:creationId xmlns:a16="http://schemas.microsoft.com/office/drawing/2014/main" id="{F822E10F-6A4E-C3E9-C7A4-21C570A662F0}"/>
              </a:ext>
            </a:extLst>
          </p:cNvPr>
          <p:cNvSpPr/>
          <p:nvPr/>
        </p:nvSpPr>
        <p:spPr>
          <a:xfrm>
            <a:off x="1115616" y="2394087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lèche droite 12">
            <a:extLst>
              <a:ext uri="{FF2B5EF4-FFF2-40B4-BE49-F238E27FC236}">
                <a16:creationId xmlns:a16="http://schemas.microsoft.com/office/drawing/2014/main" id="{401C7B02-726D-50D7-9750-AEE2A48BFD8A}"/>
              </a:ext>
            </a:extLst>
          </p:cNvPr>
          <p:cNvSpPr/>
          <p:nvPr/>
        </p:nvSpPr>
        <p:spPr>
          <a:xfrm rot="5400000">
            <a:off x="4391980" y="3590056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5B88AE-0B88-E50B-5FA9-AD4123456953}"/>
              </a:ext>
            </a:extLst>
          </p:cNvPr>
          <p:cNvSpPr/>
          <p:nvPr/>
        </p:nvSpPr>
        <p:spPr>
          <a:xfrm>
            <a:off x="3383868" y="4293096"/>
            <a:ext cx="25202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CH" sz="2400" b="1" dirty="0">
                <a:solidFill>
                  <a:schemeClr val="accent1"/>
                </a:solidFill>
              </a:rPr>
              <a:t>Possible de retrouver </a:t>
            </a:r>
          </a:p>
          <a:p>
            <a:pPr algn="ctr"/>
            <a:r>
              <a:rPr lang="fr-CH" sz="2400" b="1" dirty="0">
                <a:solidFill>
                  <a:schemeClr val="accent1"/>
                </a:solidFill>
              </a:rPr>
              <a:t>les catégories réelles </a:t>
            </a:r>
          </a:p>
          <a:p>
            <a:pPr algn="ctr"/>
            <a:r>
              <a:rPr lang="fr-CH" sz="2400" b="1" dirty="0">
                <a:solidFill>
                  <a:schemeClr val="accent1"/>
                </a:solidFill>
              </a:rPr>
              <a:t>avec les images</a:t>
            </a:r>
          </a:p>
          <a:p>
            <a:pPr algn="ctr"/>
            <a:endParaRPr lang="fr-CH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281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8" grpId="0" animBg="1"/>
      <p:bldP spid="1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4365104"/>
            <a:ext cx="9144000" cy="771083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992288" y="4406900"/>
            <a:ext cx="7772400" cy="1362075"/>
          </a:xfrm>
        </p:spPr>
        <p:txBody>
          <a:bodyPr/>
          <a:lstStyle/>
          <a:p>
            <a:r>
              <a:rPr lang="fr-CH" dirty="0">
                <a:solidFill>
                  <a:schemeClr val="bg1">
                    <a:lumMod val="95000"/>
                  </a:schemeClr>
                </a:solidFill>
              </a:rPr>
              <a:t>Conclusion</a:t>
            </a:r>
            <a:br>
              <a:rPr lang="fr-CH" dirty="0">
                <a:solidFill>
                  <a:schemeClr val="bg1">
                    <a:lumMod val="95000"/>
                  </a:schemeClr>
                </a:solidFill>
              </a:rPr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02707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53E9E94-5182-2FD1-03D4-D6486B85B621}"/>
              </a:ext>
            </a:extLst>
          </p:cNvPr>
          <p:cNvSpPr/>
          <p:nvPr/>
        </p:nvSpPr>
        <p:spPr>
          <a:xfrm>
            <a:off x="2267744" y="5733256"/>
            <a:ext cx="4608512" cy="771083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771083"/>
          </a:xfrm>
          <a:prstGeom prst="rect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467544" y="-27384"/>
            <a:ext cx="8229600" cy="764704"/>
          </a:xfrm>
        </p:spPr>
        <p:txBody>
          <a:bodyPr>
            <a:normAutofit/>
          </a:bodyPr>
          <a:lstStyle/>
          <a:p>
            <a:r>
              <a:rPr lang="fr-CH" sz="3200" b="1" dirty="0">
                <a:solidFill>
                  <a:schemeClr val="bg1">
                    <a:lumMod val="95000"/>
                  </a:schemeClr>
                </a:solidFill>
              </a:rPr>
              <a:t>Bilan</a:t>
            </a:r>
          </a:p>
        </p:txBody>
      </p:sp>
      <p:sp>
        <p:nvSpPr>
          <p:cNvPr id="11" name="Flèche droite 10"/>
          <p:cNvSpPr/>
          <p:nvPr/>
        </p:nvSpPr>
        <p:spPr>
          <a:xfrm>
            <a:off x="302498" y="1231592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796996" y="1187166"/>
            <a:ext cx="50240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CH" sz="2400" b="1" dirty="0">
                <a:solidFill>
                  <a:schemeClr val="bg1"/>
                </a:solidFill>
              </a:rPr>
              <a:t>Visualisation ACP : data déstructurées</a:t>
            </a:r>
            <a:endParaRPr lang="fr-CH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Flèche droite 15"/>
          <p:cNvSpPr/>
          <p:nvPr/>
        </p:nvSpPr>
        <p:spPr>
          <a:xfrm>
            <a:off x="302594" y="1755681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796996" y="1740872"/>
            <a:ext cx="8239500" cy="34163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H" sz="2400" b="1" dirty="0">
                <a:solidFill>
                  <a:schemeClr val="bg1">
                    <a:lumMod val="95000"/>
                  </a:schemeClr>
                </a:solidFill>
              </a:rPr>
              <a:t>Méthodes réseaux de neurones plus efficaces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CH" sz="2400" dirty="0">
                <a:solidFill>
                  <a:schemeClr val="bg1">
                    <a:lumMod val="95000"/>
                  </a:schemeClr>
                </a:solidFill>
              </a:rPr>
              <a:t>Textes :</a:t>
            </a:r>
          </a:p>
          <a:p>
            <a:pPr lvl="1"/>
            <a:r>
              <a:rPr lang="fr-CH" sz="2400" dirty="0">
                <a:solidFill>
                  <a:schemeClr val="bg1">
                    <a:lumMod val="95000"/>
                  </a:schemeClr>
                </a:solidFill>
              </a:rPr>
              <a:t>	-    Bag of </a:t>
            </a:r>
            <a:r>
              <a:rPr lang="fr-CH" sz="2400" dirty="0" err="1">
                <a:solidFill>
                  <a:schemeClr val="bg1">
                    <a:lumMod val="95000"/>
                  </a:schemeClr>
                </a:solidFill>
              </a:rPr>
              <a:t>words</a:t>
            </a:r>
            <a:r>
              <a:rPr lang="fr-CH" sz="2400" dirty="0">
                <a:solidFill>
                  <a:schemeClr val="bg1">
                    <a:lumMod val="95000"/>
                  </a:schemeClr>
                </a:solidFill>
              </a:rPr>
              <a:t> seul pas suffisant</a:t>
            </a:r>
          </a:p>
          <a:p>
            <a:pPr lvl="1"/>
            <a:r>
              <a:rPr lang="fr-CH" sz="2400" dirty="0">
                <a:solidFill>
                  <a:schemeClr val="bg1">
                    <a:lumMod val="95000"/>
                  </a:schemeClr>
                </a:solidFill>
              </a:rPr>
              <a:t> 	-    Nécessité d’associer des </a:t>
            </a:r>
            <a:r>
              <a:rPr lang="fr-CH" sz="2400" dirty="0" err="1">
                <a:solidFill>
                  <a:schemeClr val="bg1">
                    <a:lumMod val="95000"/>
                  </a:schemeClr>
                </a:solidFill>
              </a:rPr>
              <a:t>tokens</a:t>
            </a:r>
            <a:r>
              <a:rPr lang="fr-CH" sz="2400" dirty="0">
                <a:solidFill>
                  <a:schemeClr val="bg1">
                    <a:lumMod val="95000"/>
                  </a:schemeClr>
                </a:solidFill>
              </a:rPr>
              <a:t>/méthodes </a:t>
            </a:r>
            <a:r>
              <a:rPr lang="fr-CH" sz="2400" dirty="0" err="1">
                <a:solidFill>
                  <a:schemeClr val="bg1">
                    <a:lumMod val="95000"/>
                  </a:schemeClr>
                </a:solidFill>
              </a:rPr>
              <a:t>embending</a:t>
            </a:r>
            <a:endParaRPr lang="fr-CH" sz="2400" dirty="0">
              <a:solidFill>
                <a:schemeClr val="bg1">
                  <a:lumMod val="9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CH" sz="2400" dirty="0">
                <a:solidFill>
                  <a:schemeClr val="bg1">
                    <a:lumMod val="95000"/>
                  </a:schemeClr>
                </a:solidFill>
              </a:rPr>
              <a:t>Images : </a:t>
            </a:r>
          </a:p>
          <a:p>
            <a:pPr lvl="2"/>
            <a:r>
              <a:rPr lang="fr-CH" sz="2400" dirty="0">
                <a:solidFill>
                  <a:schemeClr val="bg1">
                    <a:lumMod val="95000"/>
                  </a:schemeClr>
                </a:solidFill>
              </a:rPr>
              <a:t>-    SIFT : pas suffisant</a:t>
            </a:r>
          </a:p>
          <a:p>
            <a:pPr marL="1257300" lvl="2" indent="-342900">
              <a:buFontTx/>
              <a:buChar char="-"/>
            </a:pPr>
            <a:r>
              <a:rPr lang="fr-CH" sz="2400" dirty="0">
                <a:solidFill>
                  <a:schemeClr val="bg1">
                    <a:lumMod val="95000"/>
                  </a:schemeClr>
                </a:solidFill>
              </a:rPr>
              <a:t>CNN : améliore grandement les prédictions </a:t>
            </a:r>
          </a:p>
          <a:p>
            <a:pPr lvl="2"/>
            <a:r>
              <a:rPr lang="fr-CH" sz="2400" dirty="0" err="1">
                <a:solidFill>
                  <a:schemeClr val="bg1">
                    <a:lumMod val="95000"/>
                  </a:schemeClr>
                </a:solidFill>
              </a:rPr>
              <a:t>Rq</a:t>
            </a:r>
            <a:r>
              <a:rPr lang="fr-CH" sz="2400" dirty="0">
                <a:solidFill>
                  <a:schemeClr val="bg1">
                    <a:lumMod val="95000"/>
                  </a:schemeClr>
                </a:solidFill>
              </a:rPr>
              <a:t> : difficulté avec «home </a:t>
            </a:r>
            <a:r>
              <a:rPr lang="fr-CH" sz="2400" dirty="0" err="1">
                <a:solidFill>
                  <a:schemeClr val="bg1">
                    <a:lumMod val="95000"/>
                  </a:schemeClr>
                </a:solidFill>
              </a:rPr>
              <a:t>furnishing</a:t>
            </a:r>
            <a:r>
              <a:rPr lang="fr-CH" sz="2400" dirty="0">
                <a:solidFill>
                  <a:schemeClr val="bg1">
                    <a:lumMod val="95000"/>
                  </a:schemeClr>
                </a:solidFill>
              </a:rPr>
              <a:t>»/ «</a:t>
            </a:r>
            <a:r>
              <a:rPr lang="fr-CH" sz="2400" dirty="0" err="1">
                <a:solidFill>
                  <a:schemeClr val="bg1">
                    <a:lumMod val="95000"/>
                  </a:schemeClr>
                </a:solidFill>
              </a:rPr>
              <a:t>personal</a:t>
            </a:r>
            <a:r>
              <a:rPr lang="fr-CH" sz="2400" dirty="0">
                <a:solidFill>
                  <a:schemeClr val="bg1">
                    <a:lumMod val="95000"/>
                  </a:schemeClr>
                </a:solidFill>
              </a:rPr>
              <a:t> care»</a:t>
            </a:r>
          </a:p>
          <a:p>
            <a:pPr lvl="2"/>
            <a:endParaRPr lang="fr-CH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D24490-D8D0-2C73-DB4B-8FDE0DEA9A80}"/>
              </a:ext>
            </a:extLst>
          </p:cNvPr>
          <p:cNvSpPr/>
          <p:nvPr/>
        </p:nvSpPr>
        <p:spPr>
          <a:xfrm>
            <a:off x="158578" y="1172216"/>
            <a:ext cx="8877918" cy="367527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lèche droite 12">
            <a:extLst>
              <a:ext uri="{FF2B5EF4-FFF2-40B4-BE49-F238E27FC236}">
                <a16:creationId xmlns:a16="http://schemas.microsoft.com/office/drawing/2014/main" id="{F4D92BA9-862F-2ED4-4A63-B602BA40C3E6}"/>
              </a:ext>
            </a:extLst>
          </p:cNvPr>
          <p:cNvSpPr/>
          <p:nvPr/>
        </p:nvSpPr>
        <p:spPr>
          <a:xfrm rot="5400000">
            <a:off x="4330316" y="5051140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2356DC-363D-EA24-DCBC-7B7CAA05E8F2}"/>
              </a:ext>
            </a:extLst>
          </p:cNvPr>
          <p:cNvSpPr/>
          <p:nvPr/>
        </p:nvSpPr>
        <p:spPr>
          <a:xfrm>
            <a:off x="2123728" y="5663148"/>
            <a:ext cx="47525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CH" sz="2400" b="1" dirty="0">
                <a:solidFill>
                  <a:schemeClr val="bg1"/>
                </a:solidFill>
              </a:rPr>
              <a:t>Possible de classer les produits </a:t>
            </a:r>
          </a:p>
          <a:p>
            <a:pPr algn="ctr"/>
            <a:r>
              <a:rPr lang="fr-CH" sz="2400" b="1" dirty="0">
                <a:solidFill>
                  <a:schemeClr val="bg1"/>
                </a:solidFill>
              </a:rPr>
              <a:t>avec les images et les descriptions</a:t>
            </a:r>
          </a:p>
          <a:p>
            <a:pPr algn="ctr"/>
            <a:endParaRPr lang="fr-CH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13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924944"/>
            <a:ext cx="9144000" cy="10801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6024" y="3140968"/>
            <a:ext cx="7772400" cy="1362075"/>
          </a:xfrm>
        </p:spPr>
        <p:txBody>
          <a:bodyPr>
            <a:normAutofit fontScale="90000"/>
          </a:bodyPr>
          <a:lstStyle/>
          <a:p>
            <a:pPr algn="ctr"/>
            <a:r>
              <a:rPr lang="fr-CH" dirty="0">
                <a:solidFill>
                  <a:schemeClr val="bg1">
                    <a:lumMod val="95000"/>
                  </a:schemeClr>
                </a:solidFill>
              </a:rPr>
              <a:t>MERCI !!</a:t>
            </a:r>
            <a:br>
              <a:rPr lang="fr-CH" u="sng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fr-CH" u="sng" dirty="0">
                <a:solidFill>
                  <a:schemeClr val="bg1">
                    <a:lumMod val="95000"/>
                  </a:schemeClr>
                </a:solidFill>
              </a:rPr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569474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b="1" dirty="0" smtClean="0">
            <a:solidFill>
              <a:schemeClr val="bg1">
                <a:lumMod val="95000"/>
              </a:schemeClr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1123</Words>
  <Application>Microsoft Office PowerPoint</Application>
  <PresentationFormat>Affichage à l'écran (4:3)</PresentationFormat>
  <Paragraphs>265</Paragraphs>
  <Slides>34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34</vt:i4>
      </vt:variant>
    </vt:vector>
  </HeadingPairs>
  <TitlesOfParts>
    <vt:vector size="38" baseType="lpstr">
      <vt:lpstr>Arial</vt:lpstr>
      <vt:lpstr>Calibri</vt:lpstr>
      <vt:lpstr>Thème Office</vt:lpstr>
      <vt:lpstr>1_Thème Office</vt:lpstr>
      <vt:lpstr>Projet 06</vt:lpstr>
      <vt:lpstr>Introduction</vt:lpstr>
      <vt:lpstr>Contexte</vt:lpstr>
      <vt:lpstr>But</vt:lpstr>
      <vt:lpstr>Problématique</vt:lpstr>
      <vt:lpstr>PLAN</vt:lpstr>
      <vt:lpstr>I- Pré-analyse   exploration du jeu de données</vt:lpstr>
      <vt:lpstr>I-1. Description du contenu</vt:lpstr>
      <vt:lpstr>I-1. Description du contenu</vt:lpstr>
      <vt:lpstr>I-2. Nettoyage des données</vt:lpstr>
      <vt:lpstr>Présentation PowerPoint</vt:lpstr>
      <vt:lpstr>I-3. Création d’une colonne catégorie produit</vt:lpstr>
      <vt:lpstr>II- Analyse des données textuelles </vt:lpstr>
      <vt:lpstr>PLAN</vt:lpstr>
      <vt:lpstr>II-1. Description</vt:lpstr>
      <vt:lpstr>II-2. Préparation des documents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II-Texte : BILAN</vt:lpstr>
      <vt:lpstr>III - Analyse des imageS  </vt:lpstr>
      <vt:lpstr>PLAN</vt:lpstr>
      <vt:lpstr>III-1. Description des images</vt:lpstr>
      <vt:lpstr>III-2.1 Création features avec Méthode SIFT</vt:lpstr>
      <vt:lpstr>III - 2.1 SIFT : résultats clustering k-means (7)</vt:lpstr>
      <vt:lpstr>III - 2.2 Création features avec Méthode CNN</vt:lpstr>
      <vt:lpstr>III - Images : BILAN</vt:lpstr>
      <vt:lpstr>Conclusion </vt:lpstr>
      <vt:lpstr>Bilan</vt:lpstr>
      <vt:lpstr>MERCI !!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03</dc:title>
  <dc:creator>Julie</dc:creator>
  <cp:lastModifiedBy>boumbo pépete</cp:lastModifiedBy>
  <cp:revision>443</cp:revision>
  <dcterms:created xsi:type="dcterms:W3CDTF">2022-10-11T07:27:54Z</dcterms:created>
  <dcterms:modified xsi:type="dcterms:W3CDTF">2023-03-07T20:44:07Z</dcterms:modified>
</cp:coreProperties>
</file>